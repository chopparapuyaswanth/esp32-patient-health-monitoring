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5"/>
  </p:notesMasterIdLst>
  <p:sldIdLst>
    <p:sldId id="256" r:id="rId2"/>
    <p:sldId id="257" r:id="rId3"/>
    <p:sldId id="259" r:id="rId4"/>
    <p:sldId id="270" r:id="rId5"/>
    <p:sldId id="260" r:id="rId6"/>
    <p:sldId id="258" r:id="rId7"/>
    <p:sldId id="261" r:id="rId8"/>
    <p:sldId id="263" r:id="rId9"/>
    <p:sldId id="266" r:id="rId10"/>
    <p:sldId id="267" r:id="rId11"/>
    <p:sldId id="273" r:id="rId12"/>
    <p:sldId id="268" r:id="rId13"/>
    <p:sldId id="269" r:id="rId14"/>
    <p:sldId id="274" r:id="rId15"/>
    <p:sldId id="275" r:id="rId16"/>
    <p:sldId id="276" r:id="rId17"/>
    <p:sldId id="277" r:id="rId18"/>
    <p:sldId id="278" r:id="rId19"/>
    <p:sldId id="279" r:id="rId20"/>
    <p:sldId id="280" r:id="rId21"/>
    <p:sldId id="281" r:id="rId22"/>
    <p:sldId id="272" r:id="rId23"/>
    <p:sldId id="27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79A96B-A11E-4B32-9DFB-8F2E106E2772}" v="66" dt="2026-09-21T17:49:02.1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7EC24-C1B9-48B1-BD32-DB1DCF45BABD}"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337B7-0839-4F8D-9444-BA6B5748E876}" type="slidenum">
              <a:rPr lang="en-IN" smtClean="0"/>
              <a:t>‹#›</a:t>
            </a:fld>
            <a:endParaRPr lang="en-IN"/>
          </a:p>
        </p:txBody>
      </p:sp>
    </p:spTree>
    <p:extLst>
      <p:ext uri="{BB962C8B-B14F-4D97-AF65-F5344CB8AC3E}">
        <p14:creationId xmlns:p14="http://schemas.microsoft.com/office/powerpoint/2010/main" val="65520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3337B7-0839-4F8D-9444-BA6B5748E876}" type="slidenum">
              <a:rPr lang="en-IN" smtClean="0"/>
              <a:t>12</a:t>
            </a:fld>
            <a:endParaRPr lang="en-IN"/>
          </a:p>
        </p:txBody>
      </p:sp>
    </p:spTree>
    <p:extLst>
      <p:ext uri="{BB962C8B-B14F-4D97-AF65-F5344CB8AC3E}">
        <p14:creationId xmlns:p14="http://schemas.microsoft.com/office/powerpoint/2010/main" val="310064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C43B6B3B-0987-434F-8DEF-ABC63C7BEF49}" type="datetimeFigureOut">
              <a:rPr lang="en-IN" smtClean="0"/>
              <a:t>21-09-2026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6FCC019-36DF-4A37-AF2B-DFD4DC016C7D}" type="slidenum">
              <a:rPr lang="en-IN" smtClean="0"/>
              <a:t>‹#›</a:t>
            </a:fld>
            <a:endParaRPr lang="en-IN"/>
          </a:p>
        </p:txBody>
      </p:sp>
    </p:spTree>
    <p:extLst>
      <p:ext uri="{BB962C8B-B14F-4D97-AF65-F5344CB8AC3E}">
        <p14:creationId xmlns:p14="http://schemas.microsoft.com/office/powerpoint/2010/main" val="395596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B6B3B-0987-434F-8DEF-ABC63C7BEF49}"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2322974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43B6B3B-0987-434F-8DEF-ABC63C7BEF49}" type="datetimeFigureOut">
              <a:rPr lang="en-IN" smtClean="0"/>
              <a:t>21-09-2026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6FCC019-36DF-4A37-AF2B-DFD4DC016C7D}" type="slidenum">
              <a:rPr lang="en-IN" smtClean="0"/>
              <a:t>‹#›</a:t>
            </a:fld>
            <a:endParaRPr lang="en-IN"/>
          </a:p>
        </p:txBody>
      </p:sp>
    </p:spTree>
    <p:extLst>
      <p:ext uri="{BB962C8B-B14F-4D97-AF65-F5344CB8AC3E}">
        <p14:creationId xmlns:p14="http://schemas.microsoft.com/office/powerpoint/2010/main" val="2444625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3B6B3B-0987-434F-8DEF-ABC63C7BEF49}"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2560967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3B6B3B-0987-434F-8DEF-ABC63C7BEF49}" type="datetimeFigureOut">
              <a:rPr lang="en-IN" smtClean="0"/>
              <a:t>21-09-2026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1799327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3B6B3B-0987-434F-8DEF-ABC63C7BEF49}" type="datetimeFigureOut">
              <a:rPr lang="en-IN" smtClean="0"/>
              <a:t>21-09-2026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194391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3B6B3B-0987-434F-8DEF-ABC63C7BEF49}" type="datetimeFigureOut">
              <a:rPr lang="en-IN" smtClean="0"/>
              <a:t>21-09-2026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2405580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43B6B3B-0987-434F-8DEF-ABC63C7BEF49}" type="datetimeFigureOut">
              <a:rPr lang="en-IN" smtClean="0"/>
              <a:t>21-09-2026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6FCC019-36DF-4A37-AF2B-DFD4DC016C7D}" type="slidenum">
              <a:rPr lang="en-IN" smtClean="0"/>
              <a:t>‹#›</a:t>
            </a:fld>
            <a:endParaRPr lang="en-IN"/>
          </a:p>
        </p:txBody>
      </p:sp>
    </p:spTree>
    <p:extLst>
      <p:ext uri="{BB962C8B-B14F-4D97-AF65-F5344CB8AC3E}">
        <p14:creationId xmlns:p14="http://schemas.microsoft.com/office/powerpoint/2010/main" val="804602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3B6B3B-0987-434F-8DEF-ABC63C7BEF49}" type="datetimeFigureOut">
              <a:rPr lang="en-IN" smtClean="0"/>
              <a:t>21-09-2026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569511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B6B3B-0987-434F-8DEF-ABC63C7BEF49}" type="datetimeFigureOut">
              <a:rPr lang="en-IN" smtClean="0"/>
              <a:t>21-09-2026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FCC019-36DF-4A37-AF2B-DFD4DC016C7D}" type="slidenum">
              <a:rPr lang="en-IN" smtClean="0"/>
              <a:t>‹#›</a:t>
            </a:fld>
            <a:endParaRPr lang="en-IN"/>
          </a:p>
        </p:txBody>
      </p:sp>
    </p:spTree>
    <p:extLst>
      <p:ext uri="{BB962C8B-B14F-4D97-AF65-F5344CB8AC3E}">
        <p14:creationId xmlns:p14="http://schemas.microsoft.com/office/powerpoint/2010/main" val="3628818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C43B6B3B-0987-434F-8DEF-ABC63C7BEF49}" type="datetimeFigureOut">
              <a:rPr lang="en-IN" smtClean="0"/>
              <a:t>21-09-2026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6FCC019-36DF-4A37-AF2B-DFD4DC016C7D}" type="slidenum">
              <a:rPr lang="en-IN" smtClean="0"/>
              <a:t>‹#›</a:t>
            </a:fld>
            <a:endParaRPr lang="en-IN"/>
          </a:p>
        </p:txBody>
      </p:sp>
    </p:spTree>
    <p:extLst>
      <p:ext uri="{BB962C8B-B14F-4D97-AF65-F5344CB8AC3E}">
        <p14:creationId xmlns:p14="http://schemas.microsoft.com/office/powerpoint/2010/main" val="61769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43B6B3B-0987-434F-8DEF-ABC63C7BEF49}" type="datetimeFigureOut">
              <a:rPr lang="en-IN" smtClean="0"/>
              <a:t>21-09-2026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6FCC019-36DF-4A37-AF2B-DFD4DC016C7D}"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9115056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80268A9-13A8-ACAC-CB9B-98FA6EFCC226}"/>
              </a:ext>
            </a:extLst>
          </p:cNvPr>
          <p:cNvSpPr txBox="1"/>
          <p:nvPr/>
        </p:nvSpPr>
        <p:spPr>
          <a:xfrm>
            <a:off x="3174057" y="1888977"/>
            <a:ext cx="784107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REAL TIME PATIENT HEALTH MONITORING USING ESP 32  </a:t>
            </a:r>
          </a:p>
        </p:txBody>
      </p:sp>
      <p:sp>
        <p:nvSpPr>
          <p:cNvPr id="10" name="TextBox 9">
            <a:extLst>
              <a:ext uri="{FF2B5EF4-FFF2-40B4-BE49-F238E27FC236}">
                <a16:creationId xmlns:a16="http://schemas.microsoft.com/office/drawing/2014/main" id="{A7DF3E43-7EBA-76D2-0F8C-A532D997B681}"/>
              </a:ext>
            </a:extLst>
          </p:cNvPr>
          <p:cNvSpPr txBox="1"/>
          <p:nvPr/>
        </p:nvSpPr>
        <p:spPr>
          <a:xfrm>
            <a:off x="736599" y="3666066"/>
            <a:ext cx="11108533" cy="3310143"/>
          </a:xfrm>
          <a:prstGeom prst="rect">
            <a:avLst/>
          </a:prstGeom>
          <a:noFill/>
        </p:spPr>
        <p:txBody>
          <a:bodyPr wrap="square" rtlCol="0">
            <a:spAutoFit/>
          </a:bodyPr>
          <a:lstStyle/>
          <a:p>
            <a:pPr marL="4572000" lvl="0" indent="457200" algn="ctr">
              <a:lnSpc>
                <a:spcPct val="120000"/>
              </a:lnSpc>
            </a:pPr>
            <a:r>
              <a:rPr lang="en-US" sz="1600" dirty="0">
                <a:solidFill>
                  <a:schemeClr val="dk2"/>
                </a:solidFill>
                <a:latin typeface="Times New Roman"/>
                <a:ea typeface="Times New Roman"/>
                <a:cs typeface="Times New Roman"/>
                <a:sym typeface="Times New Roman"/>
              </a:rPr>
              <a:t>Presented by</a:t>
            </a:r>
            <a:r>
              <a:rPr lang="en-US" sz="1600" dirty="0">
                <a:solidFill>
                  <a:schemeClr val="tx1">
                    <a:lumMod val="95000"/>
                    <a:lumOff val="5000"/>
                  </a:schemeClr>
                </a:solidFill>
                <a:latin typeface="Times New Roman"/>
                <a:ea typeface="Times New Roman"/>
                <a:cs typeface="Times New Roman"/>
                <a:sym typeface="Times New Roman"/>
              </a:rPr>
              <a:t>: B.GOPI KRISHNA REDDY(25491A5407)</a:t>
            </a:r>
          </a:p>
          <a:p>
            <a:pPr marL="4572000" lvl="0" indent="457200" algn="ctr">
              <a:lnSpc>
                <a:spcPct val="120000"/>
              </a:lnSpc>
            </a:pPr>
            <a:r>
              <a:rPr lang="en-US" sz="1600" dirty="0">
                <a:solidFill>
                  <a:schemeClr val="tx1">
                    <a:lumMod val="95000"/>
                    <a:lumOff val="5000"/>
                  </a:schemeClr>
                </a:solidFill>
                <a:latin typeface="Times New Roman"/>
                <a:ea typeface="Times New Roman"/>
                <a:cs typeface="Times New Roman"/>
                <a:sym typeface="Times New Roman"/>
              </a:rPr>
              <a:t>                       BANDIKATLA POOJITHA(25491A5408)</a:t>
            </a:r>
          </a:p>
          <a:p>
            <a:pPr marL="4572000" lvl="0" indent="457200" algn="ctr">
              <a:lnSpc>
                <a:spcPct val="120000"/>
              </a:lnSpc>
            </a:pPr>
            <a:r>
              <a:rPr lang="en-US" sz="1600" dirty="0">
                <a:solidFill>
                  <a:schemeClr val="tx1">
                    <a:lumMod val="95000"/>
                    <a:lumOff val="5000"/>
                  </a:schemeClr>
                </a:solidFill>
                <a:latin typeface="Times New Roman"/>
                <a:ea typeface="Times New Roman"/>
                <a:cs typeface="Times New Roman"/>
                <a:sym typeface="Times New Roman"/>
              </a:rPr>
              <a:t>          BURRA KALYANI(25491A5410)</a:t>
            </a:r>
          </a:p>
          <a:p>
            <a:pPr marL="4572000" lvl="0" indent="457200" algn="ctr">
              <a:lnSpc>
                <a:spcPct val="120000"/>
              </a:lnSpc>
            </a:pPr>
            <a:r>
              <a:rPr lang="en-US" sz="1600" dirty="0">
                <a:solidFill>
                  <a:schemeClr val="tx1">
                    <a:lumMod val="95000"/>
                    <a:lumOff val="5000"/>
                  </a:schemeClr>
                </a:solidFill>
                <a:latin typeface="Times New Roman"/>
                <a:ea typeface="Times New Roman"/>
                <a:cs typeface="Times New Roman"/>
                <a:sym typeface="Times New Roman"/>
              </a:rPr>
              <a:t>       CH. YASWANTH(25491A5416)</a:t>
            </a:r>
          </a:p>
          <a:p>
            <a:pPr marL="4572000" lvl="0" indent="457200" algn="ctr">
              <a:lnSpc>
                <a:spcPct val="120000"/>
              </a:lnSpc>
            </a:pPr>
            <a:r>
              <a:rPr lang="en-US" sz="1600" dirty="0">
                <a:solidFill>
                  <a:schemeClr val="tx1">
                    <a:lumMod val="95000"/>
                    <a:lumOff val="5000"/>
                  </a:schemeClr>
                </a:solidFill>
                <a:latin typeface="Times New Roman"/>
                <a:ea typeface="Times New Roman"/>
                <a:cs typeface="Times New Roman"/>
                <a:sym typeface="Times New Roman"/>
              </a:rPr>
              <a:t>                 CHANDURI REVATHI(25491A5418)</a:t>
            </a:r>
          </a:p>
          <a:p>
            <a:pPr marL="5940000" lvl="0">
              <a:lnSpc>
                <a:spcPct val="120000"/>
              </a:lnSpc>
            </a:pPr>
            <a:r>
              <a:rPr lang="en-US" sz="1600" dirty="0">
                <a:solidFill>
                  <a:schemeClr val="tx1">
                    <a:lumMod val="95000"/>
                    <a:lumOff val="5000"/>
                  </a:schemeClr>
                </a:solidFill>
                <a:latin typeface="Times New Roman"/>
                <a:ea typeface="Times New Roman"/>
                <a:cs typeface="Times New Roman"/>
                <a:sym typeface="Times New Roman"/>
              </a:rPr>
              <a:t>                   D.HEMA ANANTH KUMAR(25491A5420)</a:t>
            </a:r>
            <a:br>
              <a:rPr lang="en-US" sz="1600" dirty="0">
                <a:solidFill>
                  <a:schemeClr val="tx1">
                    <a:lumMod val="95000"/>
                    <a:lumOff val="5000"/>
                  </a:schemeClr>
                </a:solidFill>
                <a:latin typeface="Times New Roman"/>
                <a:ea typeface="Times New Roman"/>
                <a:cs typeface="Times New Roman"/>
                <a:sym typeface="Times New Roman"/>
              </a:rPr>
            </a:br>
            <a:r>
              <a:rPr lang="en-US" sz="1600" dirty="0">
                <a:solidFill>
                  <a:schemeClr val="dk2"/>
                </a:solidFill>
                <a:latin typeface="Times New Roman"/>
                <a:ea typeface="Times New Roman"/>
                <a:cs typeface="Times New Roman"/>
                <a:sym typeface="Times New Roman"/>
              </a:rPr>
              <a:t>    Under the Guidance of: </a:t>
            </a:r>
            <a:r>
              <a:rPr lang="en-US" sz="1600" dirty="0">
                <a:solidFill>
                  <a:schemeClr val="tx1">
                    <a:lumMod val="95000"/>
                    <a:lumOff val="5000"/>
                  </a:schemeClr>
                </a:solidFill>
                <a:latin typeface="Times New Roman"/>
                <a:ea typeface="Times New Roman"/>
                <a:cs typeface="Times New Roman"/>
                <a:sym typeface="Times New Roman"/>
              </a:rPr>
              <a:t>Ms. H Yashaswini</a:t>
            </a:r>
            <a:br>
              <a:rPr lang="en-US" sz="1600" dirty="0">
                <a:solidFill>
                  <a:schemeClr val="dk2"/>
                </a:solidFill>
                <a:latin typeface="Times New Roman"/>
                <a:ea typeface="Times New Roman"/>
                <a:cs typeface="Times New Roman"/>
                <a:sym typeface="Times New Roman"/>
              </a:rPr>
            </a:br>
            <a:r>
              <a:rPr lang="en-US" sz="1600" dirty="0">
                <a:solidFill>
                  <a:schemeClr val="dk2"/>
                </a:solidFill>
                <a:latin typeface="Times New Roman"/>
                <a:ea typeface="Times New Roman"/>
                <a:cs typeface="Times New Roman"/>
                <a:sym typeface="Times New Roman"/>
              </a:rPr>
              <a:t>    Department: </a:t>
            </a:r>
            <a:r>
              <a:rPr lang="en-US" sz="1600" dirty="0">
                <a:solidFill>
                  <a:schemeClr val="tx1">
                    <a:lumMod val="95000"/>
                    <a:lumOff val="5000"/>
                  </a:schemeClr>
                </a:solidFill>
                <a:latin typeface="Times New Roman"/>
                <a:ea typeface="Times New Roman"/>
                <a:cs typeface="Times New Roman"/>
                <a:sym typeface="Times New Roman"/>
              </a:rPr>
              <a:t>DATA SCIENCE</a:t>
            </a:r>
            <a:br>
              <a:rPr lang="en-US" sz="1600" dirty="0">
                <a:solidFill>
                  <a:schemeClr val="dk2"/>
                </a:solidFill>
                <a:latin typeface="Times New Roman"/>
                <a:ea typeface="Times New Roman"/>
                <a:cs typeface="Times New Roman"/>
                <a:sym typeface="Times New Roman"/>
              </a:rPr>
            </a:br>
            <a:r>
              <a:rPr lang="en-US" sz="1600" dirty="0">
                <a:solidFill>
                  <a:schemeClr val="dk2"/>
                </a:solidFill>
                <a:latin typeface="Times New Roman"/>
                <a:ea typeface="Times New Roman"/>
                <a:cs typeface="Times New Roman"/>
                <a:sym typeface="Times New Roman"/>
              </a:rPr>
              <a:t>    Project Domain</a:t>
            </a:r>
            <a:r>
              <a:rPr lang="en-US" sz="1600">
                <a:solidFill>
                  <a:schemeClr val="dk2"/>
                </a:solidFill>
                <a:latin typeface="Times New Roman"/>
                <a:ea typeface="Times New Roman"/>
                <a:cs typeface="Times New Roman"/>
                <a:sym typeface="Times New Roman"/>
              </a:rPr>
              <a:t>:  </a:t>
            </a:r>
            <a:br>
              <a:rPr lang="en-US" sz="1600" dirty="0">
                <a:solidFill>
                  <a:schemeClr val="dk2"/>
                </a:solidFill>
                <a:latin typeface="Times New Roman"/>
                <a:ea typeface="Times New Roman"/>
                <a:cs typeface="Times New Roman"/>
                <a:sym typeface="Times New Roman"/>
              </a:rPr>
            </a:br>
            <a:r>
              <a:rPr lang="en-US" sz="1600" dirty="0">
                <a:solidFill>
                  <a:schemeClr val="dk2"/>
                </a:solidFill>
                <a:latin typeface="Times New Roman"/>
                <a:ea typeface="Times New Roman"/>
                <a:cs typeface="Times New Roman"/>
                <a:sym typeface="Times New Roman"/>
              </a:rPr>
              <a:t>    Functional Domain:  </a:t>
            </a:r>
            <a:r>
              <a:rPr lang="en-US" sz="1600" dirty="0">
                <a:solidFill>
                  <a:schemeClr val="tx1">
                    <a:lumMod val="95000"/>
                    <a:lumOff val="5000"/>
                  </a:schemeClr>
                </a:solidFill>
                <a:latin typeface="Times New Roman"/>
                <a:ea typeface="Times New Roman"/>
                <a:cs typeface="Times New Roman"/>
                <a:sym typeface="Times New Roman"/>
              </a:rPr>
              <a:t>HEALTHCARE</a:t>
            </a:r>
            <a:endParaRPr lang="en-US" sz="4300" b="1" dirty="0">
              <a:solidFill>
                <a:schemeClr val="tx1">
                  <a:lumMod val="95000"/>
                  <a:lumOff val="5000"/>
                </a:schemeClr>
              </a:solidFill>
              <a:latin typeface="Helvetica Neue"/>
              <a:ea typeface="Helvetica Neue"/>
              <a:cs typeface="Helvetica Neue"/>
              <a:sym typeface="Helvetica Neue"/>
            </a:endParaRPr>
          </a:p>
          <a:p>
            <a:endParaRPr lang="en-IN" sz="1600" dirty="0"/>
          </a:p>
        </p:txBody>
      </p:sp>
      <p:pic>
        <p:nvPicPr>
          <p:cNvPr id="3" name="Picture 2">
            <a:extLst>
              <a:ext uri="{FF2B5EF4-FFF2-40B4-BE49-F238E27FC236}">
                <a16:creationId xmlns:a16="http://schemas.microsoft.com/office/drawing/2014/main" id="{1A22BE8E-B8DD-6A56-43F3-C992B8D489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765" y="3147013"/>
            <a:ext cx="5177235" cy="3451490"/>
          </a:xfrm>
          <a:prstGeom prst="rect">
            <a:avLst/>
          </a:prstGeom>
        </p:spPr>
      </p:pic>
      <p:sp>
        <p:nvSpPr>
          <p:cNvPr id="2" name="TextBox 1">
            <a:extLst>
              <a:ext uri="{FF2B5EF4-FFF2-40B4-BE49-F238E27FC236}">
                <a16:creationId xmlns:a16="http://schemas.microsoft.com/office/drawing/2014/main" id="{4845D920-EEA2-3749-F0CB-14AC2C4BBBDA}"/>
              </a:ext>
            </a:extLst>
          </p:cNvPr>
          <p:cNvSpPr txBox="1"/>
          <p:nvPr/>
        </p:nvSpPr>
        <p:spPr>
          <a:xfrm>
            <a:off x="4460989" y="1031051"/>
            <a:ext cx="2794356" cy="646331"/>
          </a:xfrm>
          <a:prstGeom prst="rect">
            <a:avLst/>
          </a:prstGeom>
          <a:noFill/>
        </p:spPr>
        <p:txBody>
          <a:bodyPr wrap="none" rtlCol="0">
            <a:spAutoFit/>
          </a:bodyPr>
          <a:lstStyle/>
          <a:p>
            <a:r>
              <a:rPr lang="en-IN" dirty="0">
                <a:solidFill>
                  <a:schemeClr val="bg1"/>
                </a:solidFill>
                <a:latin typeface="Times New Roman"/>
                <a:ea typeface="Times New Roman"/>
                <a:cs typeface="Times New Roman"/>
                <a:sym typeface="Times New Roman"/>
              </a:rPr>
              <a:t>Semester 2-1 CPBL Review</a:t>
            </a:r>
            <a:endParaRPr lang="en-IN"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52857935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71A3-0779-5651-BF9E-8E0B0C03F18A}"/>
              </a:ext>
            </a:extLst>
          </p:cNvPr>
          <p:cNvSpPr>
            <a:spLocks noGrp="1"/>
          </p:cNvSpPr>
          <p:nvPr>
            <p:ph type="title"/>
          </p:nvPr>
        </p:nvSpPr>
        <p:spPr>
          <a:xfrm>
            <a:off x="1881725" y="2326760"/>
            <a:ext cx="2614075" cy="483345"/>
          </a:xfrm>
        </p:spPr>
        <p:txBody>
          <a:bodyPr>
            <a:normAutofit/>
          </a:bodyPr>
          <a:lstStyle/>
          <a:p>
            <a:r>
              <a:rPr lang="en-IN" sz="2000" dirty="0">
                <a:solidFill>
                  <a:schemeClr val="tx2">
                    <a:lumMod val="50000"/>
                  </a:schemeClr>
                </a:solidFill>
              </a:rPr>
              <a:t>PROJECT </a:t>
            </a:r>
            <a:r>
              <a:rPr lang="en-IN" sz="2000" dirty="0">
                <a:solidFill>
                  <a:schemeClr val="tx2">
                    <a:lumMod val="50000"/>
                  </a:schemeClr>
                </a:solidFill>
                <a:latin typeface="Times New Roman" panose="02020603050405020304" pitchFamily="18" charset="0"/>
                <a:cs typeface="Times New Roman" panose="02020603050405020304" pitchFamily="18" charset="0"/>
              </a:rPr>
              <a:t>DOMAIN</a:t>
            </a:r>
            <a:r>
              <a:rPr lang="en-IN" sz="2000" dirty="0">
                <a:solidFill>
                  <a:schemeClr val="tx2">
                    <a:lumMod val="50000"/>
                  </a:schemeClr>
                </a:solidFill>
              </a:rPr>
              <a:t> :</a:t>
            </a:r>
          </a:p>
        </p:txBody>
      </p:sp>
      <p:sp>
        <p:nvSpPr>
          <p:cNvPr id="15" name="Content Placeholder 14">
            <a:extLst>
              <a:ext uri="{FF2B5EF4-FFF2-40B4-BE49-F238E27FC236}">
                <a16:creationId xmlns:a16="http://schemas.microsoft.com/office/drawing/2014/main" id="{54A4ED41-0781-870C-4266-632DEC75EF3C}"/>
              </a:ext>
            </a:extLst>
          </p:cNvPr>
          <p:cNvSpPr>
            <a:spLocks noGrp="1"/>
          </p:cNvSpPr>
          <p:nvPr>
            <p:ph idx="1"/>
          </p:nvPr>
        </p:nvSpPr>
        <p:spPr>
          <a:xfrm>
            <a:off x="2429543" y="3429000"/>
            <a:ext cx="5708121" cy="483344"/>
          </a:xfrm>
        </p:spPr>
        <p:txBody>
          <a:bodyPr>
            <a:normAutofit/>
          </a:bodyPr>
          <a:lstStyle/>
          <a:p>
            <a:pPr>
              <a:buFont typeface="Wingdings" panose="05000000000000000000" pitchFamily="2" charset="2"/>
              <a:buChar char="Ø"/>
            </a:pPr>
            <a:r>
              <a:rPr lang="en-IN" sz="1600" b="1" dirty="0"/>
              <a:t>Healthcare Technology with IoT integration</a:t>
            </a:r>
            <a:r>
              <a:rPr lang="en-IN" sz="1600" dirty="0"/>
              <a:t>.</a:t>
            </a:r>
          </a:p>
          <a:p>
            <a:pPr marL="0" indent="0">
              <a:buNone/>
            </a:pPr>
            <a:endParaRPr lang="en-IN" dirty="0"/>
          </a:p>
          <a:p>
            <a:pPr>
              <a:buFont typeface="Wingdings" panose="05000000000000000000" pitchFamily="2" charset="2"/>
              <a:buChar char="§"/>
            </a:pP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E94D61E-7F4D-2458-3C4F-D9E109847944}"/>
              </a:ext>
            </a:extLst>
          </p:cNvPr>
          <p:cNvSpPr txBox="1"/>
          <p:nvPr/>
        </p:nvSpPr>
        <p:spPr>
          <a:xfrm>
            <a:off x="1881725" y="4161907"/>
            <a:ext cx="2715808" cy="369332"/>
          </a:xfrm>
          <a:prstGeom prst="rect">
            <a:avLst/>
          </a:prstGeom>
          <a:noFill/>
        </p:spPr>
        <p:txBody>
          <a:bodyPr wrap="none" rtlCol="0">
            <a:spAutoFit/>
          </a:bodyPr>
          <a:lstStyle/>
          <a:p>
            <a:r>
              <a:rPr lang="en-IN" dirty="0"/>
              <a:t>FUNCTIONAL DOMAIN:</a:t>
            </a:r>
          </a:p>
        </p:txBody>
      </p:sp>
      <p:sp>
        <p:nvSpPr>
          <p:cNvPr id="5" name="TextBox 4">
            <a:extLst>
              <a:ext uri="{FF2B5EF4-FFF2-40B4-BE49-F238E27FC236}">
                <a16:creationId xmlns:a16="http://schemas.microsoft.com/office/drawing/2014/main" id="{417DA90E-23A8-1619-C3DD-C01E8064C064}"/>
              </a:ext>
            </a:extLst>
          </p:cNvPr>
          <p:cNvSpPr txBox="1"/>
          <p:nvPr/>
        </p:nvSpPr>
        <p:spPr>
          <a:xfrm>
            <a:off x="2429543" y="4926968"/>
            <a:ext cx="7106048" cy="646331"/>
          </a:xfrm>
          <a:prstGeom prst="rect">
            <a:avLst/>
          </a:prstGeom>
          <a:noFill/>
        </p:spPr>
        <p:txBody>
          <a:bodyPr wrap="none" rtlCol="0">
            <a:spAutoFit/>
          </a:bodyPr>
          <a:lstStyle/>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Real‑time Patient Health Monitoring, Data Analysis, And </a:t>
            </a:r>
            <a:r>
              <a:rPr lang="en-IN" sz="1600" b="1" dirty="0">
                <a:latin typeface="Times New Roman" panose="02020603050405020304" pitchFamily="18" charset="0"/>
                <a:cs typeface="Times New Roman" panose="02020603050405020304" pitchFamily="18" charset="0"/>
              </a:rPr>
              <a:t>Predictive</a:t>
            </a:r>
            <a:r>
              <a:rPr lang="en-IN" b="1"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      Diagnosis For Improved Medical Decision‑making</a:t>
            </a:r>
            <a:r>
              <a:rPr lang="en-IN" dirty="0">
                <a:latin typeface="Times New Roman" panose="02020603050405020304" pitchFamily="18" charset="0"/>
                <a:cs typeface="Times New Roman" panose="02020603050405020304" pitchFamily="18" charset="0"/>
              </a:rPr>
              <a:t>.</a:t>
            </a:r>
          </a:p>
        </p:txBody>
      </p:sp>
      <p:pic>
        <p:nvPicPr>
          <p:cNvPr id="9" name="Graphic 8" descr="Heart with pulse with solid fill">
            <a:extLst>
              <a:ext uri="{FF2B5EF4-FFF2-40B4-BE49-F238E27FC236}">
                <a16:creationId xmlns:a16="http://schemas.microsoft.com/office/drawing/2014/main" id="{786AC4E4-EB59-DB28-B7EA-173D857E78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35591" y="4926968"/>
            <a:ext cx="914400" cy="914400"/>
          </a:xfrm>
          <a:prstGeom prst="rect">
            <a:avLst/>
          </a:prstGeom>
        </p:spPr>
      </p:pic>
    </p:spTree>
    <p:extLst>
      <p:ext uri="{BB962C8B-B14F-4D97-AF65-F5344CB8AC3E}">
        <p14:creationId xmlns:p14="http://schemas.microsoft.com/office/powerpoint/2010/main" val="85024700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130CA-CCF0-07FD-5AE5-FE6510705EAE}"/>
              </a:ext>
            </a:extLst>
          </p:cNvPr>
          <p:cNvSpPr>
            <a:spLocks noGrp="1"/>
          </p:cNvSpPr>
          <p:nvPr>
            <p:ph type="title"/>
          </p:nvPr>
        </p:nvSpPr>
        <p:spPr>
          <a:xfrm>
            <a:off x="1356792" y="252449"/>
            <a:ext cx="8911687" cy="1280890"/>
          </a:xfrm>
        </p:spPr>
        <p:txBody>
          <a:bodyPr>
            <a:normAutofit/>
          </a:bodyPr>
          <a:lstStyle/>
          <a:p>
            <a:r>
              <a:rPr lang="en-IN" sz="2000" dirty="0">
                <a:latin typeface="Times New Roman" panose="02020603050405020304" pitchFamily="18" charset="0"/>
                <a:cs typeface="Times New Roman" panose="02020603050405020304" pitchFamily="18" charset="0"/>
              </a:rPr>
              <a:t>PROBLEM IDENTIFICATION :</a:t>
            </a:r>
          </a:p>
        </p:txBody>
      </p:sp>
      <p:sp>
        <p:nvSpPr>
          <p:cNvPr id="3" name="Content Placeholder 2">
            <a:extLst>
              <a:ext uri="{FF2B5EF4-FFF2-40B4-BE49-F238E27FC236}">
                <a16:creationId xmlns:a16="http://schemas.microsoft.com/office/drawing/2014/main" id="{583FF905-6ADF-6677-71A0-3A5332CE41AF}"/>
              </a:ext>
            </a:extLst>
          </p:cNvPr>
          <p:cNvSpPr>
            <a:spLocks noGrp="1"/>
          </p:cNvSpPr>
          <p:nvPr>
            <p:ph idx="1"/>
          </p:nvPr>
        </p:nvSpPr>
        <p:spPr>
          <a:xfrm>
            <a:off x="855134" y="2592766"/>
            <a:ext cx="8576733" cy="1109133"/>
          </a:xfrm>
        </p:spPr>
        <p:txBody>
          <a:bodyPr>
            <a:normAutofit fontScale="32500" lnSpcReduction="20000"/>
          </a:bodyPr>
          <a:lstStyle/>
          <a:p>
            <a:pPr>
              <a:buFont typeface="Wingdings" panose="05000000000000000000" pitchFamily="2" charset="2"/>
              <a:buChar char="v"/>
            </a:pPr>
            <a:r>
              <a:rPr lang="en-IN" sz="5600" b="1" dirty="0"/>
              <a:t>Problem Source:</a:t>
            </a:r>
            <a:endParaRPr lang="en-IN" sz="5600" dirty="0"/>
          </a:p>
          <a:p>
            <a:r>
              <a:rPr lang="en-IN" sz="5600" dirty="0"/>
              <a:t>Lack of continuous, intelligence, and remote patient monitoring</a:t>
            </a:r>
          </a:p>
          <a:p>
            <a:r>
              <a:rPr lang="en-IN" sz="5600" dirty="0"/>
              <a:t>Reliance on hospital visits, manual observation, and periodic check‑ups</a:t>
            </a:r>
          </a:p>
          <a:p>
            <a:pPr marL="0" indent="0">
              <a:buNone/>
            </a:pPr>
            <a:endParaRPr lang="en-IN" sz="1600" dirty="0"/>
          </a:p>
          <a:p>
            <a:endParaRPr lang="en-IN" sz="1600" dirty="0"/>
          </a:p>
          <a:p>
            <a:endParaRPr lang="en-IN" sz="1600" dirty="0"/>
          </a:p>
          <a:p>
            <a:pPr marL="0" indent="0">
              <a:buNone/>
            </a:pPr>
            <a:endParaRPr lang="en-IN" sz="1600" dirty="0"/>
          </a:p>
          <a:p>
            <a:endParaRPr lang="en-IN" sz="1600" dirty="0"/>
          </a:p>
          <a:p>
            <a:pPr marL="0" indent="0">
              <a:buNone/>
            </a:pPr>
            <a:endParaRPr lang="en-IN" dirty="0"/>
          </a:p>
        </p:txBody>
      </p:sp>
      <p:sp>
        <p:nvSpPr>
          <p:cNvPr id="5" name="TextBox 4">
            <a:extLst>
              <a:ext uri="{FF2B5EF4-FFF2-40B4-BE49-F238E27FC236}">
                <a16:creationId xmlns:a16="http://schemas.microsoft.com/office/drawing/2014/main" id="{0E40358C-1B09-CD3C-F353-879E714F9267}"/>
              </a:ext>
            </a:extLst>
          </p:cNvPr>
          <p:cNvSpPr txBox="1"/>
          <p:nvPr/>
        </p:nvSpPr>
        <p:spPr>
          <a:xfrm>
            <a:off x="4588933" y="3338926"/>
            <a:ext cx="6747933" cy="1231106"/>
          </a:xfrm>
          <a:prstGeom prst="rect">
            <a:avLst/>
          </a:prstGeom>
          <a:noFill/>
        </p:spPr>
        <p:txBody>
          <a:bodyPr wrap="square" rtlCol="0">
            <a:spAutoFit/>
          </a:bodyPr>
          <a:lstStyle/>
          <a:p>
            <a:pPr>
              <a:buFont typeface="Wingdings" panose="05000000000000000000" pitchFamily="2" charset="2"/>
              <a:buChar char="v"/>
            </a:pPr>
            <a:r>
              <a:rPr lang="en-IN" b="1" dirty="0"/>
              <a:t>Stakeholders :</a:t>
            </a:r>
            <a:endParaRPr lang="en-IN" dirty="0"/>
          </a:p>
          <a:p>
            <a:r>
              <a:rPr lang="en-IN" sz="1400" dirty="0"/>
              <a:t>Patients → Need timely monitoring</a:t>
            </a:r>
          </a:p>
          <a:p>
            <a:r>
              <a:rPr lang="en-IN" sz="1400" dirty="0"/>
              <a:t>Elderly → Require remote/fall detection</a:t>
            </a:r>
          </a:p>
          <a:p>
            <a:r>
              <a:rPr lang="en-IN" sz="1400" dirty="0"/>
              <a:t>Family/Caregivers → Real‑time updates &amp; alerts</a:t>
            </a:r>
          </a:p>
          <a:p>
            <a:endParaRPr lang="en-IN" sz="1400" dirty="0"/>
          </a:p>
        </p:txBody>
      </p:sp>
      <p:sp>
        <p:nvSpPr>
          <p:cNvPr id="7" name="TextBox 6">
            <a:extLst>
              <a:ext uri="{FF2B5EF4-FFF2-40B4-BE49-F238E27FC236}">
                <a16:creationId xmlns:a16="http://schemas.microsoft.com/office/drawing/2014/main" id="{D6E6A0CD-C38B-2BC9-958F-9AFC24FFFD83}"/>
              </a:ext>
            </a:extLst>
          </p:cNvPr>
          <p:cNvSpPr txBox="1"/>
          <p:nvPr/>
        </p:nvSpPr>
        <p:spPr>
          <a:xfrm>
            <a:off x="1189046" y="4428009"/>
            <a:ext cx="5194821" cy="1169551"/>
          </a:xfrm>
          <a:prstGeom prst="rect">
            <a:avLst/>
          </a:prstGeom>
          <a:noFill/>
        </p:spPr>
        <p:txBody>
          <a:bodyPr wrap="square" rtlCol="0">
            <a:spAutoFit/>
          </a:bodyPr>
          <a:lstStyle/>
          <a:p>
            <a:pPr>
              <a:buFont typeface="Wingdings" panose="05000000000000000000" pitchFamily="2" charset="2"/>
              <a:buChar char="v"/>
            </a:pPr>
            <a:r>
              <a:rPr lang="en-IN" sz="1400" b="1" dirty="0"/>
              <a:t>IMPACT :</a:t>
            </a:r>
            <a:endParaRPr lang="en-IN" sz="1400" dirty="0"/>
          </a:p>
          <a:p>
            <a:r>
              <a:rPr lang="en-IN" sz="1400" dirty="0"/>
              <a:t>Delayed diagnosis → Higher mortality risk</a:t>
            </a:r>
          </a:p>
          <a:p>
            <a:r>
              <a:rPr lang="en-IN" sz="1400" dirty="0"/>
              <a:t>Increased healthcare costs</a:t>
            </a:r>
          </a:p>
          <a:p>
            <a:r>
              <a:rPr lang="en-IN" sz="1400" dirty="0"/>
              <a:t>Reduced efficiency in healthcare delivery</a:t>
            </a:r>
          </a:p>
          <a:p>
            <a:endParaRPr lang="en-IN" sz="1400" dirty="0"/>
          </a:p>
        </p:txBody>
      </p:sp>
      <p:sp>
        <p:nvSpPr>
          <p:cNvPr id="10" name="TextBox 9">
            <a:extLst>
              <a:ext uri="{FF2B5EF4-FFF2-40B4-BE49-F238E27FC236}">
                <a16:creationId xmlns:a16="http://schemas.microsoft.com/office/drawing/2014/main" id="{E7171284-4769-8D38-31C6-1956161E58F1}"/>
              </a:ext>
            </a:extLst>
          </p:cNvPr>
          <p:cNvSpPr txBox="1"/>
          <p:nvPr/>
        </p:nvSpPr>
        <p:spPr>
          <a:xfrm>
            <a:off x="5130800" y="5597560"/>
            <a:ext cx="5664200" cy="954107"/>
          </a:xfrm>
          <a:prstGeom prst="rect">
            <a:avLst/>
          </a:prstGeom>
          <a:noFill/>
        </p:spPr>
        <p:txBody>
          <a:bodyPr wrap="square" rtlCol="0">
            <a:spAutoFit/>
          </a:bodyPr>
          <a:lstStyle/>
          <a:p>
            <a:pPr>
              <a:buFont typeface="Wingdings" panose="05000000000000000000" pitchFamily="2" charset="2"/>
              <a:buChar char="v"/>
            </a:pPr>
            <a:r>
              <a:rPr lang="en-IN" sz="1400" b="1" dirty="0"/>
              <a:t>CURRENT CHALLENGES :</a:t>
            </a:r>
            <a:endParaRPr lang="en-IN" sz="1400" dirty="0"/>
          </a:p>
          <a:p>
            <a:r>
              <a:rPr lang="en-IN" sz="1400" b="1" dirty="0"/>
              <a:t>Technical</a:t>
            </a:r>
            <a:r>
              <a:rPr lang="en-IN" sz="1400" dirty="0"/>
              <a:t> → Limited real‑time monitoring</a:t>
            </a:r>
          </a:p>
          <a:p>
            <a:r>
              <a:rPr lang="en-IN" sz="1400" b="1" dirty="0"/>
              <a:t>Operational</a:t>
            </a:r>
            <a:r>
              <a:rPr lang="en-IN" sz="1400" dirty="0"/>
              <a:t> → Dependence on manual observation</a:t>
            </a:r>
          </a:p>
          <a:p>
            <a:endParaRPr lang="en-IN" sz="1400" dirty="0"/>
          </a:p>
        </p:txBody>
      </p:sp>
      <p:pic>
        <p:nvPicPr>
          <p:cNvPr id="6" name="Picture 5">
            <a:extLst>
              <a:ext uri="{FF2B5EF4-FFF2-40B4-BE49-F238E27FC236}">
                <a16:creationId xmlns:a16="http://schemas.microsoft.com/office/drawing/2014/main" id="{84BADB1E-2286-DC26-EAA3-32D76678F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6082" y="2259449"/>
            <a:ext cx="2710484" cy="2710484"/>
          </a:xfrm>
          <a:prstGeom prst="rect">
            <a:avLst/>
          </a:prstGeom>
        </p:spPr>
      </p:pic>
    </p:spTree>
    <p:extLst>
      <p:ext uri="{BB962C8B-B14F-4D97-AF65-F5344CB8AC3E}">
        <p14:creationId xmlns:p14="http://schemas.microsoft.com/office/powerpoint/2010/main" val="708512779"/>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40D208-F781-E92B-8746-5D7273DD3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597" y="658801"/>
            <a:ext cx="10233977" cy="6197600"/>
          </a:xfrm>
          <a:prstGeom prst="rect">
            <a:avLst/>
          </a:prstGeom>
        </p:spPr>
      </p:pic>
      <p:sp>
        <p:nvSpPr>
          <p:cNvPr id="7" name="TextBox 6">
            <a:extLst>
              <a:ext uri="{FF2B5EF4-FFF2-40B4-BE49-F238E27FC236}">
                <a16:creationId xmlns:a16="http://schemas.microsoft.com/office/drawing/2014/main" id="{234C8151-E747-0E3F-36C8-C7E51DF94139}"/>
              </a:ext>
            </a:extLst>
          </p:cNvPr>
          <p:cNvSpPr txBox="1"/>
          <p:nvPr/>
        </p:nvSpPr>
        <p:spPr>
          <a:xfrm>
            <a:off x="1077491" y="1608667"/>
            <a:ext cx="152400" cy="369332"/>
          </a:xfrm>
          <a:prstGeom prst="rect">
            <a:avLst/>
          </a:prstGeom>
          <a:noFill/>
        </p:spPr>
        <p:txBody>
          <a:bodyPr wrap="square" rtlCol="0">
            <a:spAutoFit/>
          </a:bodyPr>
          <a:lstStyle/>
          <a:p>
            <a:r>
              <a:rPr lang="en-IN" dirty="0"/>
              <a:t>1</a:t>
            </a:r>
          </a:p>
        </p:txBody>
      </p:sp>
      <p:sp>
        <p:nvSpPr>
          <p:cNvPr id="8" name="TextBox 7">
            <a:extLst>
              <a:ext uri="{FF2B5EF4-FFF2-40B4-BE49-F238E27FC236}">
                <a16:creationId xmlns:a16="http://schemas.microsoft.com/office/drawing/2014/main" id="{FFAA2CD8-369D-1E9E-8815-D13D14066BC8}"/>
              </a:ext>
            </a:extLst>
          </p:cNvPr>
          <p:cNvSpPr txBox="1"/>
          <p:nvPr/>
        </p:nvSpPr>
        <p:spPr>
          <a:xfrm>
            <a:off x="1077491" y="2125134"/>
            <a:ext cx="300082" cy="369332"/>
          </a:xfrm>
          <a:prstGeom prst="rect">
            <a:avLst/>
          </a:prstGeom>
          <a:noFill/>
        </p:spPr>
        <p:txBody>
          <a:bodyPr wrap="none" rtlCol="0">
            <a:spAutoFit/>
          </a:bodyPr>
          <a:lstStyle/>
          <a:p>
            <a:r>
              <a:rPr lang="en-IN" dirty="0"/>
              <a:t>2</a:t>
            </a:r>
          </a:p>
        </p:txBody>
      </p:sp>
      <p:sp>
        <p:nvSpPr>
          <p:cNvPr id="9" name="TextBox 8">
            <a:extLst>
              <a:ext uri="{FF2B5EF4-FFF2-40B4-BE49-F238E27FC236}">
                <a16:creationId xmlns:a16="http://schemas.microsoft.com/office/drawing/2014/main" id="{A0BE8B43-E4E5-8F5C-BE16-C070EF7B1729}"/>
              </a:ext>
            </a:extLst>
          </p:cNvPr>
          <p:cNvSpPr txBox="1"/>
          <p:nvPr/>
        </p:nvSpPr>
        <p:spPr>
          <a:xfrm>
            <a:off x="1077491" y="2741600"/>
            <a:ext cx="300082" cy="369332"/>
          </a:xfrm>
          <a:prstGeom prst="rect">
            <a:avLst/>
          </a:prstGeom>
          <a:noFill/>
        </p:spPr>
        <p:txBody>
          <a:bodyPr wrap="none" rtlCol="0">
            <a:spAutoFit/>
          </a:bodyPr>
          <a:lstStyle/>
          <a:p>
            <a:r>
              <a:rPr lang="en-IN" dirty="0"/>
              <a:t>3</a:t>
            </a:r>
          </a:p>
        </p:txBody>
      </p:sp>
      <p:sp>
        <p:nvSpPr>
          <p:cNvPr id="10" name="TextBox 9">
            <a:extLst>
              <a:ext uri="{FF2B5EF4-FFF2-40B4-BE49-F238E27FC236}">
                <a16:creationId xmlns:a16="http://schemas.microsoft.com/office/drawing/2014/main" id="{7B102FCA-AA34-4098-BD3D-3DB17DCB6E7D}"/>
              </a:ext>
            </a:extLst>
          </p:cNvPr>
          <p:cNvSpPr txBox="1"/>
          <p:nvPr/>
        </p:nvSpPr>
        <p:spPr>
          <a:xfrm>
            <a:off x="1068890" y="3258067"/>
            <a:ext cx="300082" cy="369332"/>
          </a:xfrm>
          <a:prstGeom prst="rect">
            <a:avLst/>
          </a:prstGeom>
          <a:noFill/>
        </p:spPr>
        <p:txBody>
          <a:bodyPr wrap="none" rtlCol="0">
            <a:spAutoFit/>
          </a:bodyPr>
          <a:lstStyle/>
          <a:p>
            <a:r>
              <a:rPr lang="en-IN" dirty="0"/>
              <a:t>4</a:t>
            </a:r>
          </a:p>
        </p:txBody>
      </p:sp>
      <p:sp>
        <p:nvSpPr>
          <p:cNvPr id="11" name="TextBox 10">
            <a:extLst>
              <a:ext uri="{FF2B5EF4-FFF2-40B4-BE49-F238E27FC236}">
                <a16:creationId xmlns:a16="http://schemas.microsoft.com/office/drawing/2014/main" id="{F71E9E58-6BCC-3017-3F75-FAED7F7EEBCF}"/>
              </a:ext>
            </a:extLst>
          </p:cNvPr>
          <p:cNvSpPr txBox="1"/>
          <p:nvPr/>
        </p:nvSpPr>
        <p:spPr>
          <a:xfrm>
            <a:off x="1077491" y="3774534"/>
            <a:ext cx="300082" cy="369332"/>
          </a:xfrm>
          <a:prstGeom prst="rect">
            <a:avLst/>
          </a:prstGeom>
          <a:noFill/>
        </p:spPr>
        <p:txBody>
          <a:bodyPr wrap="none" rtlCol="0">
            <a:spAutoFit/>
          </a:bodyPr>
          <a:lstStyle/>
          <a:p>
            <a:r>
              <a:rPr lang="en-IN" dirty="0"/>
              <a:t>5</a:t>
            </a:r>
          </a:p>
        </p:txBody>
      </p:sp>
      <p:sp>
        <p:nvSpPr>
          <p:cNvPr id="12" name="TextBox 11">
            <a:extLst>
              <a:ext uri="{FF2B5EF4-FFF2-40B4-BE49-F238E27FC236}">
                <a16:creationId xmlns:a16="http://schemas.microsoft.com/office/drawing/2014/main" id="{5D6A7E4E-2D4B-3F7C-F338-985DBAFABA35}"/>
              </a:ext>
            </a:extLst>
          </p:cNvPr>
          <p:cNvSpPr txBox="1"/>
          <p:nvPr/>
        </p:nvSpPr>
        <p:spPr>
          <a:xfrm>
            <a:off x="1077491" y="4178869"/>
            <a:ext cx="300082" cy="369332"/>
          </a:xfrm>
          <a:prstGeom prst="rect">
            <a:avLst/>
          </a:prstGeom>
          <a:noFill/>
        </p:spPr>
        <p:txBody>
          <a:bodyPr wrap="none" rtlCol="0">
            <a:spAutoFit/>
          </a:bodyPr>
          <a:lstStyle/>
          <a:p>
            <a:r>
              <a:rPr lang="en-IN" dirty="0"/>
              <a:t>6</a:t>
            </a:r>
          </a:p>
        </p:txBody>
      </p:sp>
      <p:sp>
        <p:nvSpPr>
          <p:cNvPr id="13" name="TextBox 12">
            <a:extLst>
              <a:ext uri="{FF2B5EF4-FFF2-40B4-BE49-F238E27FC236}">
                <a16:creationId xmlns:a16="http://schemas.microsoft.com/office/drawing/2014/main" id="{B6AD431D-9ECC-7C0B-E540-6EC9FD69A42B}"/>
              </a:ext>
            </a:extLst>
          </p:cNvPr>
          <p:cNvSpPr txBox="1"/>
          <p:nvPr/>
        </p:nvSpPr>
        <p:spPr>
          <a:xfrm>
            <a:off x="1126565" y="4722801"/>
            <a:ext cx="300082" cy="369332"/>
          </a:xfrm>
          <a:prstGeom prst="rect">
            <a:avLst/>
          </a:prstGeom>
          <a:noFill/>
        </p:spPr>
        <p:txBody>
          <a:bodyPr wrap="none" rtlCol="0">
            <a:spAutoFit/>
          </a:bodyPr>
          <a:lstStyle/>
          <a:p>
            <a:r>
              <a:rPr lang="en-IN" dirty="0"/>
              <a:t>7</a:t>
            </a:r>
          </a:p>
        </p:txBody>
      </p:sp>
      <p:sp>
        <p:nvSpPr>
          <p:cNvPr id="14" name="TextBox 13">
            <a:extLst>
              <a:ext uri="{FF2B5EF4-FFF2-40B4-BE49-F238E27FC236}">
                <a16:creationId xmlns:a16="http://schemas.microsoft.com/office/drawing/2014/main" id="{EC931696-0496-A1F9-BA33-F705D9B20886}"/>
              </a:ext>
            </a:extLst>
          </p:cNvPr>
          <p:cNvSpPr txBox="1"/>
          <p:nvPr/>
        </p:nvSpPr>
        <p:spPr>
          <a:xfrm>
            <a:off x="1077491" y="5154601"/>
            <a:ext cx="300082" cy="369332"/>
          </a:xfrm>
          <a:prstGeom prst="rect">
            <a:avLst/>
          </a:prstGeom>
          <a:noFill/>
        </p:spPr>
        <p:txBody>
          <a:bodyPr wrap="none" rtlCol="0">
            <a:spAutoFit/>
          </a:bodyPr>
          <a:lstStyle/>
          <a:p>
            <a:r>
              <a:rPr lang="en-IN" dirty="0"/>
              <a:t>8</a:t>
            </a:r>
          </a:p>
        </p:txBody>
      </p:sp>
      <p:sp>
        <p:nvSpPr>
          <p:cNvPr id="15" name="TextBox 14">
            <a:extLst>
              <a:ext uri="{FF2B5EF4-FFF2-40B4-BE49-F238E27FC236}">
                <a16:creationId xmlns:a16="http://schemas.microsoft.com/office/drawing/2014/main" id="{CF3F26F2-D0D9-B72F-BAFF-84A665C08201}"/>
              </a:ext>
            </a:extLst>
          </p:cNvPr>
          <p:cNvSpPr txBox="1"/>
          <p:nvPr/>
        </p:nvSpPr>
        <p:spPr>
          <a:xfrm>
            <a:off x="1068890" y="5671068"/>
            <a:ext cx="300082" cy="369332"/>
          </a:xfrm>
          <a:prstGeom prst="rect">
            <a:avLst/>
          </a:prstGeom>
          <a:noFill/>
        </p:spPr>
        <p:txBody>
          <a:bodyPr wrap="none" rtlCol="0">
            <a:spAutoFit/>
          </a:bodyPr>
          <a:lstStyle/>
          <a:p>
            <a:r>
              <a:rPr lang="en-IN" dirty="0"/>
              <a:t>9</a:t>
            </a:r>
          </a:p>
        </p:txBody>
      </p:sp>
      <p:sp>
        <p:nvSpPr>
          <p:cNvPr id="16" name="TextBox 15">
            <a:extLst>
              <a:ext uri="{FF2B5EF4-FFF2-40B4-BE49-F238E27FC236}">
                <a16:creationId xmlns:a16="http://schemas.microsoft.com/office/drawing/2014/main" id="{DB130608-E266-8FD9-F173-616D2C79E50D}"/>
              </a:ext>
            </a:extLst>
          </p:cNvPr>
          <p:cNvSpPr txBox="1"/>
          <p:nvPr/>
        </p:nvSpPr>
        <p:spPr>
          <a:xfrm>
            <a:off x="983255" y="6263734"/>
            <a:ext cx="415498" cy="369332"/>
          </a:xfrm>
          <a:prstGeom prst="rect">
            <a:avLst/>
          </a:prstGeom>
          <a:noFill/>
        </p:spPr>
        <p:txBody>
          <a:bodyPr wrap="none" rtlCol="0">
            <a:spAutoFit/>
          </a:bodyPr>
          <a:lstStyle/>
          <a:p>
            <a:r>
              <a:rPr lang="en-IN" dirty="0"/>
              <a:t>10</a:t>
            </a:r>
          </a:p>
        </p:txBody>
      </p:sp>
    </p:spTree>
    <p:extLst>
      <p:ext uri="{BB962C8B-B14F-4D97-AF65-F5344CB8AC3E}">
        <p14:creationId xmlns:p14="http://schemas.microsoft.com/office/powerpoint/2010/main" val="3761751519"/>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Stethoscope with solid fill">
            <a:extLst>
              <a:ext uri="{FF2B5EF4-FFF2-40B4-BE49-F238E27FC236}">
                <a16:creationId xmlns:a16="http://schemas.microsoft.com/office/drawing/2014/main" id="{F49DA090-B289-84B0-4DCF-6DFD7BAB65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0410276">
            <a:off x="10634132" y="821267"/>
            <a:ext cx="914400" cy="914400"/>
          </a:xfrm>
          <a:prstGeom prst="rect">
            <a:avLst/>
          </a:prstGeom>
        </p:spPr>
      </p:pic>
      <p:sp>
        <p:nvSpPr>
          <p:cNvPr id="6" name="TextBox 5">
            <a:extLst>
              <a:ext uri="{FF2B5EF4-FFF2-40B4-BE49-F238E27FC236}">
                <a16:creationId xmlns:a16="http://schemas.microsoft.com/office/drawing/2014/main" id="{AD454E1F-269A-43F8-448D-7804CB37A41D}"/>
              </a:ext>
            </a:extLst>
          </p:cNvPr>
          <p:cNvSpPr txBox="1"/>
          <p:nvPr/>
        </p:nvSpPr>
        <p:spPr>
          <a:xfrm>
            <a:off x="1236134" y="2246577"/>
            <a:ext cx="7179733" cy="3754874"/>
          </a:xfrm>
          <a:prstGeom prst="rect">
            <a:avLst/>
          </a:prstGeom>
          <a:noFill/>
        </p:spPr>
        <p:txBody>
          <a:bodyPr wrap="square" rtlCol="0">
            <a:spAutoFit/>
          </a:bodyPr>
          <a:lstStyle/>
          <a:p>
            <a:r>
              <a:rPr lang="en-IN" sz="1600" b="1" dirty="0"/>
              <a:t>🔍 Research Gap :</a:t>
            </a:r>
          </a:p>
          <a:p>
            <a:endParaRPr lang="en-IN" sz="1600" b="1" dirty="0"/>
          </a:p>
          <a:p>
            <a:r>
              <a:rPr lang="en-IN" sz="1600" dirty="0"/>
              <a:t>❤️ Current systems track only single health parameters.</a:t>
            </a:r>
          </a:p>
          <a:p>
            <a:r>
              <a:rPr lang="en-IN" sz="1600" dirty="0"/>
              <a:t>📡 Poor multi‑sensor integration (ECG, pulse, temperature).</a:t>
            </a:r>
          </a:p>
          <a:p>
            <a:r>
              <a:rPr lang="en-IN" sz="1600" dirty="0"/>
              <a:t>☁️ Limited real‑time cloud connectivity.</a:t>
            </a:r>
          </a:p>
          <a:p>
            <a:r>
              <a:rPr lang="en-IN" sz="1600" dirty="0"/>
              <a:t>💰 Solutions are costly and less accessible.</a:t>
            </a:r>
          </a:p>
          <a:p>
            <a:endParaRPr lang="en-IN" sz="1600" dirty="0"/>
          </a:p>
          <a:p>
            <a:endParaRPr lang="en-IN" sz="1600" dirty="0"/>
          </a:p>
          <a:p>
            <a:r>
              <a:rPr lang="en-IN" sz="1600" b="1" dirty="0"/>
              <a:t>🚀 Motivation :</a:t>
            </a:r>
          </a:p>
          <a:p>
            <a:endParaRPr lang="en-IN" sz="1600" b="1" dirty="0"/>
          </a:p>
          <a:p>
            <a:r>
              <a:rPr lang="en-IN" sz="1600" dirty="0"/>
              <a:t>🔧 Develop a low‑cost IoT health system with ESP32.</a:t>
            </a:r>
          </a:p>
          <a:p>
            <a:r>
              <a:rPr lang="en-IN" sz="1600" dirty="0"/>
              <a:t>🔔 Enable real‑time alerts via LCD + buzzer.</a:t>
            </a:r>
          </a:p>
          <a:p>
            <a:r>
              <a:rPr lang="en-IN" sz="1600" dirty="0"/>
              <a:t>🌐 Provide remote monitoring through cloud dashboards.</a:t>
            </a:r>
          </a:p>
          <a:p>
            <a:r>
              <a:rPr lang="en-IN" sz="1600" dirty="0"/>
              <a:t>🏥 Support early abnormality detection for better healthcare</a:t>
            </a:r>
            <a:r>
              <a:rPr lang="en-IN" sz="1400" dirty="0"/>
              <a:t>.</a:t>
            </a:r>
          </a:p>
          <a:p>
            <a:endParaRPr lang="en-IN" sz="1400" dirty="0"/>
          </a:p>
        </p:txBody>
      </p:sp>
      <p:pic>
        <p:nvPicPr>
          <p:cNvPr id="3" name="Picture 2">
            <a:extLst>
              <a:ext uri="{FF2B5EF4-FFF2-40B4-BE49-F238E27FC236}">
                <a16:creationId xmlns:a16="http://schemas.microsoft.com/office/drawing/2014/main" id="{1DE8535F-2429-8549-E5AE-5F9AE3567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2783" y="3217334"/>
            <a:ext cx="3636730" cy="2419350"/>
          </a:xfrm>
          <a:prstGeom prst="rect">
            <a:avLst/>
          </a:prstGeom>
        </p:spPr>
      </p:pic>
      <p:sp>
        <p:nvSpPr>
          <p:cNvPr id="2" name="TextBox 1">
            <a:extLst>
              <a:ext uri="{FF2B5EF4-FFF2-40B4-BE49-F238E27FC236}">
                <a16:creationId xmlns:a16="http://schemas.microsoft.com/office/drawing/2014/main" id="{D969C8E3-0DA3-618B-18F9-8CB53D1ED616}"/>
              </a:ext>
            </a:extLst>
          </p:cNvPr>
          <p:cNvSpPr txBox="1"/>
          <p:nvPr/>
        </p:nvSpPr>
        <p:spPr>
          <a:xfrm>
            <a:off x="3141134" y="856549"/>
            <a:ext cx="4402167" cy="523220"/>
          </a:xfrm>
          <a:prstGeom prst="rect">
            <a:avLst/>
          </a:prstGeom>
          <a:noFill/>
        </p:spPr>
        <p:txBody>
          <a:bodyPr wrap="none" rtlCol="0">
            <a:spAutoFit/>
          </a:bodyPr>
          <a:lstStyle/>
          <a:p>
            <a:r>
              <a:rPr lang="en-IN" sz="2800" dirty="0">
                <a:solidFill>
                  <a:schemeClr val="bg1"/>
                </a:solidFill>
              </a:rPr>
              <a:t>Research Gap  &amp; Motivation </a:t>
            </a:r>
          </a:p>
        </p:txBody>
      </p:sp>
    </p:spTree>
    <p:extLst>
      <p:ext uri="{BB962C8B-B14F-4D97-AF65-F5344CB8AC3E}">
        <p14:creationId xmlns:p14="http://schemas.microsoft.com/office/powerpoint/2010/main" val="66307330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A0D1-41B7-F17A-7B2C-C0AFD0A481E5}"/>
              </a:ext>
            </a:extLst>
          </p:cNvPr>
          <p:cNvSpPr>
            <a:spLocks noGrp="1"/>
          </p:cNvSpPr>
          <p:nvPr>
            <p:ph type="title"/>
          </p:nvPr>
        </p:nvSpPr>
        <p:spPr>
          <a:xfrm>
            <a:off x="2152659" y="175376"/>
            <a:ext cx="8911687" cy="1280890"/>
          </a:xfrm>
        </p:spPr>
        <p:txBody>
          <a:bodyPr>
            <a:normAutofit/>
          </a:bodyPr>
          <a:lstStyle/>
          <a:p>
            <a:r>
              <a:rPr lang="en-IN" sz="2000" dirty="0"/>
              <a:t>OBJECTIVES :</a:t>
            </a:r>
          </a:p>
        </p:txBody>
      </p:sp>
      <p:sp>
        <p:nvSpPr>
          <p:cNvPr id="3" name="Content Placeholder 2">
            <a:extLst>
              <a:ext uri="{FF2B5EF4-FFF2-40B4-BE49-F238E27FC236}">
                <a16:creationId xmlns:a16="http://schemas.microsoft.com/office/drawing/2014/main" id="{61420DBA-BABF-2B81-247A-3EEEB4E0EC44}"/>
              </a:ext>
            </a:extLst>
          </p:cNvPr>
          <p:cNvSpPr>
            <a:spLocks noGrp="1"/>
          </p:cNvSpPr>
          <p:nvPr>
            <p:ph idx="1"/>
          </p:nvPr>
        </p:nvSpPr>
        <p:spPr>
          <a:xfrm>
            <a:off x="980545" y="1989667"/>
            <a:ext cx="9492722" cy="4868333"/>
          </a:xfrm>
        </p:spPr>
        <p:txBody>
          <a:bodyPr/>
          <a:lstStyle/>
          <a:p>
            <a:r>
              <a:rPr lang="en-IN" dirty="0"/>
              <a:t> </a:t>
            </a:r>
            <a:r>
              <a:rPr lang="en-IN" sz="1600" b="1" dirty="0">
                <a:latin typeface="Times New Roman" panose="02020603050405020304" pitchFamily="18" charset="0"/>
                <a:cs typeface="Times New Roman" panose="02020603050405020304" pitchFamily="18" charset="0"/>
              </a:rPr>
              <a:t>Continuous monitoring</a:t>
            </a:r>
            <a:r>
              <a:rPr lang="en-IN" sz="1600" dirty="0">
                <a:latin typeface="Times New Roman" panose="02020603050405020304" pitchFamily="18" charset="0"/>
                <a:cs typeface="Times New Roman" panose="02020603050405020304" pitchFamily="18" charset="0"/>
              </a:rPr>
              <a:t> </a:t>
            </a:r>
          </a:p>
          <a:p>
            <a:pPr marL="0" indent="0">
              <a:buNone/>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Early detection</a:t>
            </a:r>
            <a:r>
              <a:rPr lang="en-IN" sz="1600" dirty="0">
                <a:latin typeface="Times New Roman" panose="02020603050405020304" pitchFamily="18" charset="0"/>
                <a:cs typeface="Times New Roman" panose="02020603050405020304" pitchFamily="18" charset="0"/>
              </a:rPr>
              <a:t> </a:t>
            </a:r>
          </a:p>
          <a:p>
            <a:pPr marL="0" indent="0">
              <a:buNone/>
            </a:pP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Remote healthcare support</a:t>
            </a:r>
            <a:r>
              <a:rPr lang="en-IN" sz="1600" dirty="0">
                <a:latin typeface="Times New Roman" panose="02020603050405020304" pitchFamily="18" charset="0"/>
                <a:cs typeface="Times New Roman" panose="02020603050405020304" pitchFamily="18" charset="0"/>
              </a:rPr>
              <a:t> </a:t>
            </a:r>
          </a:p>
          <a:p>
            <a:pPr marL="0" indent="0">
              <a:buNone/>
            </a:pP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Reducing hospital visits</a:t>
            </a:r>
            <a:r>
              <a:rPr lang="en-IN" sz="1600" dirty="0">
                <a:latin typeface="Times New Roman" panose="02020603050405020304" pitchFamily="18" charset="0"/>
                <a:cs typeface="Times New Roman" panose="02020603050405020304" pitchFamily="18" charset="0"/>
              </a:rPr>
              <a:t> </a:t>
            </a:r>
          </a:p>
          <a:p>
            <a:pPr marL="0" indent="0">
              <a:buNone/>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Improving decision‑making</a:t>
            </a:r>
            <a:r>
              <a:rPr lang="en-IN" sz="1600" dirty="0">
                <a:latin typeface="Times New Roman" panose="02020603050405020304" pitchFamily="18" charset="0"/>
                <a:cs typeface="Times New Roman" panose="02020603050405020304" pitchFamily="18" charset="0"/>
              </a:rPr>
              <a:t> </a:t>
            </a:r>
          </a:p>
          <a:p>
            <a:pPr marL="0" indent="0">
              <a:buNone/>
            </a:pP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Enhancing patient safety</a:t>
            </a:r>
            <a:endParaRPr lang="en-IN" sz="1600" dirty="0">
              <a:latin typeface="Times New Roman" panose="02020603050405020304" pitchFamily="18" charset="0"/>
              <a:cs typeface="Times New Roman" panose="02020603050405020304" pitchFamily="18" charset="0"/>
            </a:endParaRPr>
          </a:p>
        </p:txBody>
      </p:sp>
      <p:pic>
        <p:nvPicPr>
          <p:cNvPr id="5" name="Graphic 4" descr="Heartbeat with solid fill">
            <a:extLst>
              <a:ext uri="{FF2B5EF4-FFF2-40B4-BE49-F238E27FC236}">
                <a16:creationId xmlns:a16="http://schemas.microsoft.com/office/drawing/2014/main" id="{728993E6-F34B-7273-D3B3-55FDDD2075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0537850">
            <a:off x="9181239" y="395670"/>
            <a:ext cx="1716204" cy="1716204"/>
          </a:xfrm>
          <a:prstGeom prst="rect">
            <a:avLst/>
          </a:prstGeom>
        </p:spPr>
      </p:pic>
      <p:pic>
        <p:nvPicPr>
          <p:cNvPr id="6" name="Picture 5">
            <a:extLst>
              <a:ext uri="{FF2B5EF4-FFF2-40B4-BE49-F238E27FC236}">
                <a16:creationId xmlns:a16="http://schemas.microsoft.com/office/drawing/2014/main" id="{E8E946C4-35B9-3175-DF41-18AD5FE0C787}"/>
              </a:ext>
            </a:extLst>
          </p:cNvPr>
          <p:cNvPicPr>
            <a:picLocks noChangeAspect="1"/>
          </p:cNvPicPr>
          <p:nvPr/>
        </p:nvPicPr>
        <p:blipFill>
          <a:blip r:embed="rId3">
            <a:extLst>
              <a:ext uri="{28A0092B-C50C-407E-A947-70E740481C1C}">
                <a14:useLocalDpi xmlns:a14="http://schemas.microsoft.com/office/drawing/2010/main" val="0"/>
              </a:ext>
            </a:extLst>
          </a:blip>
          <a:srcRect r="11594"/>
          <a:stretch>
            <a:fillRect/>
          </a:stretch>
        </p:blipFill>
        <p:spPr>
          <a:xfrm>
            <a:off x="6291350" y="3173750"/>
            <a:ext cx="5571067" cy="3150849"/>
          </a:xfrm>
          <a:prstGeom prst="rect">
            <a:avLst/>
          </a:prstGeom>
        </p:spPr>
      </p:pic>
    </p:spTree>
    <p:extLst>
      <p:ext uri="{BB962C8B-B14F-4D97-AF65-F5344CB8AC3E}">
        <p14:creationId xmlns:p14="http://schemas.microsoft.com/office/powerpoint/2010/main" val="234979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CFFAFC1-FFE9-BA3B-A811-23B7BADA15B2}"/>
              </a:ext>
            </a:extLst>
          </p:cNvPr>
          <p:cNvPicPr>
            <a:picLocks noChangeAspect="1"/>
          </p:cNvPicPr>
          <p:nvPr/>
        </p:nvPicPr>
        <p:blipFill>
          <a:blip r:embed="rId2">
            <a:extLst>
              <a:ext uri="{28A0092B-C50C-407E-A947-70E740481C1C}">
                <a14:useLocalDpi xmlns:a14="http://schemas.microsoft.com/office/drawing/2010/main" val="0"/>
              </a:ext>
            </a:extLst>
          </a:blip>
          <a:srcRect l="14074" t="13333" r="15708" b="15062"/>
          <a:stretch>
            <a:fillRect/>
          </a:stretch>
        </p:blipFill>
        <p:spPr>
          <a:xfrm>
            <a:off x="9206169" y="3887938"/>
            <a:ext cx="2912533" cy="2970062"/>
          </a:xfrm>
          <a:prstGeom prst="rect">
            <a:avLst/>
          </a:prstGeom>
        </p:spPr>
      </p:pic>
      <p:sp>
        <p:nvSpPr>
          <p:cNvPr id="2" name="Title 1">
            <a:extLst>
              <a:ext uri="{FF2B5EF4-FFF2-40B4-BE49-F238E27FC236}">
                <a16:creationId xmlns:a16="http://schemas.microsoft.com/office/drawing/2014/main" id="{8A41537E-7AF1-2D3F-C763-720FC105B7AF}"/>
              </a:ext>
            </a:extLst>
          </p:cNvPr>
          <p:cNvSpPr>
            <a:spLocks noGrp="1"/>
          </p:cNvSpPr>
          <p:nvPr>
            <p:ph type="title"/>
          </p:nvPr>
        </p:nvSpPr>
        <p:spPr>
          <a:xfrm>
            <a:off x="2067991" y="268510"/>
            <a:ext cx="8911687" cy="1280890"/>
          </a:xfrm>
        </p:spPr>
        <p:txBody>
          <a:bodyPr>
            <a:normAutofit/>
          </a:bodyPr>
          <a:lstStyle/>
          <a:p>
            <a:r>
              <a:rPr lang="en-IN" sz="2000" dirty="0">
                <a:latin typeface="Times New Roman"/>
                <a:ea typeface="Times New Roman"/>
                <a:cs typeface="Times New Roman"/>
                <a:sym typeface="Times New Roman"/>
              </a:rPr>
              <a:t>Existing Solution Analysis :</a:t>
            </a: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CFDDDD-6D15-909B-82BC-91FF426E6E0E}"/>
              </a:ext>
            </a:extLst>
          </p:cNvPr>
          <p:cNvSpPr>
            <a:spLocks noGrp="1"/>
          </p:cNvSpPr>
          <p:nvPr>
            <p:ph idx="1"/>
          </p:nvPr>
        </p:nvSpPr>
        <p:spPr>
          <a:xfrm>
            <a:off x="3931436" y="2217150"/>
            <a:ext cx="7450667" cy="2472266"/>
          </a:xfrm>
        </p:spPr>
        <p:txBody>
          <a:bodyPr>
            <a:normAutofit/>
          </a:bodyPr>
          <a:lstStyle/>
          <a:p>
            <a:pPr marL="0" indent="0">
              <a:buNone/>
            </a:pPr>
            <a:endParaRPr lang="en-IN" sz="1700" dirty="0"/>
          </a:p>
          <a:p>
            <a:endParaRPr lang="en-IN" sz="1700" dirty="0"/>
          </a:p>
          <a:p>
            <a:pPr>
              <a:buFont typeface="Wingdings" panose="05000000000000000000" pitchFamily="2" charset="2"/>
              <a:buChar char="v"/>
            </a:pPr>
            <a:r>
              <a:rPr lang="en-IN" sz="1700" b="1" dirty="0"/>
              <a:t>Existing Products</a:t>
            </a:r>
            <a:endParaRPr lang="en-IN" sz="1700" dirty="0"/>
          </a:p>
          <a:p>
            <a:r>
              <a:rPr lang="en-IN" sz="1700" dirty="0"/>
              <a:t>Apple Watch → HR, ECG, SpO₂, fall detection</a:t>
            </a:r>
          </a:p>
          <a:p>
            <a:r>
              <a:rPr lang="en-IN" sz="1700" dirty="0"/>
              <a:t>Fitbit Sense → HR, temperature trends, stress monitoring</a:t>
            </a:r>
          </a:p>
          <a:p>
            <a:r>
              <a:rPr lang="en-IN" sz="1700" dirty="0"/>
              <a:t>Samsung Galaxy Watch → ECG, BP estimation, SpO₂ monitoring</a:t>
            </a:r>
          </a:p>
          <a:p>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CC5C35E-7347-0228-E59C-AEA950BC7232}"/>
              </a:ext>
            </a:extLst>
          </p:cNvPr>
          <p:cNvSpPr txBox="1"/>
          <p:nvPr/>
        </p:nvSpPr>
        <p:spPr>
          <a:xfrm>
            <a:off x="609261" y="1979917"/>
            <a:ext cx="5780750" cy="1015663"/>
          </a:xfrm>
          <a:prstGeom prst="rect">
            <a:avLst/>
          </a:prstGeom>
          <a:noFill/>
        </p:spPr>
        <p:txBody>
          <a:bodyPr wrap="none" rtlCol="0">
            <a:spAutoFit/>
          </a:bodyPr>
          <a:lstStyle/>
          <a:p>
            <a:pPr>
              <a:buFont typeface="Wingdings" panose="05000000000000000000" pitchFamily="2" charset="2"/>
              <a:buChar char="v"/>
            </a:pPr>
            <a:r>
              <a:rPr lang="en-IN" b="1" dirty="0"/>
              <a:t>Current Practices</a:t>
            </a:r>
            <a:endParaRPr lang="en-IN" dirty="0"/>
          </a:p>
          <a:p>
            <a:pPr marL="285750" indent="-285750">
              <a:buFont typeface="Wingdings" panose="05000000000000000000" pitchFamily="2" charset="2"/>
              <a:buChar char="Ø"/>
            </a:pPr>
            <a:r>
              <a:rPr lang="en-IN" sz="1400" dirty="0"/>
              <a:t>Hospital bedside monitoring → Continuous ECG, HR, BP, SpO₂</a:t>
            </a:r>
          </a:p>
          <a:p>
            <a:pPr marL="285750" indent="-285750">
              <a:buFont typeface="Wingdings" panose="05000000000000000000" pitchFamily="2" charset="2"/>
              <a:buChar char="Ø"/>
            </a:pPr>
            <a:r>
              <a:rPr lang="en-IN" sz="1400" dirty="0"/>
              <a:t>Periodic health check‑ups → Routine hospital visits</a:t>
            </a:r>
          </a:p>
          <a:p>
            <a:endParaRPr lang="en-IN" sz="1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EB2A1E0-EA56-43DF-9E0A-FBC2D46A780B}"/>
              </a:ext>
            </a:extLst>
          </p:cNvPr>
          <p:cNvSpPr txBox="1"/>
          <p:nvPr/>
        </p:nvSpPr>
        <p:spPr>
          <a:xfrm>
            <a:off x="735011" y="4258899"/>
            <a:ext cx="4919134" cy="1323439"/>
          </a:xfrm>
          <a:prstGeom prst="rect">
            <a:avLst/>
          </a:prstGeom>
          <a:noFill/>
        </p:spPr>
        <p:txBody>
          <a:bodyPr wrap="square" rtlCol="0">
            <a:spAutoFit/>
          </a:bodyPr>
          <a:lstStyle/>
          <a:p>
            <a:pPr>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Advantages :</a:t>
            </a:r>
          </a:p>
          <a:p>
            <a:endParaRPr lang="en-IN"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1600" dirty="0"/>
              <a:t>Accurate vital sign measurement</a:t>
            </a:r>
          </a:p>
          <a:p>
            <a:pPr marL="285750" indent="-285750">
              <a:buFont typeface="Wingdings" panose="05000000000000000000" pitchFamily="2" charset="2"/>
              <a:buChar char="§"/>
            </a:pPr>
            <a:r>
              <a:rPr lang="en-IN" sz="1600" dirty="0"/>
              <a:t>Continuous hospital monitoring</a:t>
            </a:r>
          </a:p>
          <a:p>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776777-65C5-8E01-0699-4EE81DB6694C}"/>
              </a:ext>
            </a:extLst>
          </p:cNvPr>
          <p:cNvSpPr txBox="1"/>
          <p:nvPr/>
        </p:nvSpPr>
        <p:spPr>
          <a:xfrm>
            <a:off x="5654145" y="5119933"/>
            <a:ext cx="5325533" cy="1815882"/>
          </a:xfrm>
          <a:prstGeom prst="rect">
            <a:avLst/>
          </a:prstGeom>
          <a:noFill/>
        </p:spPr>
        <p:txBody>
          <a:bodyPr wrap="square" rtlCol="0">
            <a:spAutoFit/>
          </a:bodyPr>
          <a:lstStyle/>
          <a:p>
            <a:pPr>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Limitations :</a:t>
            </a:r>
          </a:p>
          <a:p>
            <a:pPr>
              <a:buFont typeface="Wingdings" panose="05000000000000000000" pitchFamily="2" charset="2"/>
              <a:buChar char="v"/>
            </a:pPr>
            <a:endParaRPr lang="en-IN" sz="1600" dirty="0">
              <a:latin typeface="Times New Roman" panose="02020603050405020304" pitchFamily="18" charset="0"/>
              <a:cs typeface="Times New Roman" panose="02020603050405020304" pitchFamily="18" charset="0"/>
            </a:endParaRPr>
          </a:p>
          <a:p>
            <a:endParaRPr lang="en-IN" sz="1600" dirty="0"/>
          </a:p>
          <a:p>
            <a:pPr marL="285750" indent="-285750">
              <a:buFont typeface="Wingdings" panose="05000000000000000000" pitchFamily="2" charset="2"/>
              <a:buChar char="§"/>
            </a:pPr>
            <a:r>
              <a:rPr lang="en-IN" sz="1600" dirty="0"/>
              <a:t> Lack of integrated monitoring</a:t>
            </a:r>
          </a:p>
          <a:p>
            <a:pPr marL="285750" indent="-285750">
              <a:buFont typeface="Wingdings" panose="05000000000000000000" pitchFamily="2" charset="2"/>
              <a:buChar char="§"/>
            </a:pPr>
            <a:r>
              <a:rPr lang="en-IN" sz="1600" dirty="0"/>
              <a:t>Delayed emergency response</a:t>
            </a:r>
          </a:p>
          <a:p>
            <a:pPr marL="285750" indent="-285750">
              <a:buFont typeface="Wingdings" panose="05000000000000000000" pitchFamily="2" charset="2"/>
              <a:buChar char="§"/>
            </a:pPr>
            <a:r>
              <a:rPr lang="en-IN" sz="1600" dirty="0"/>
              <a:t>High cost issues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10104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DDC4-FD16-893A-9F94-FE0D16B85B1F}"/>
              </a:ext>
            </a:extLst>
          </p:cNvPr>
          <p:cNvSpPr>
            <a:spLocks noGrp="1"/>
          </p:cNvSpPr>
          <p:nvPr>
            <p:ph type="title"/>
          </p:nvPr>
        </p:nvSpPr>
        <p:spPr>
          <a:xfrm>
            <a:off x="1494988" y="245075"/>
            <a:ext cx="8911687" cy="1280890"/>
          </a:xfrm>
        </p:spPr>
        <p:txBody>
          <a:bodyPr>
            <a:normAutofit/>
          </a:bodyPr>
          <a:lstStyle/>
          <a:p>
            <a:r>
              <a:rPr lang="en-IN" sz="2000" dirty="0"/>
              <a:t>Proposed solution :</a:t>
            </a:r>
          </a:p>
        </p:txBody>
      </p:sp>
      <p:sp>
        <p:nvSpPr>
          <p:cNvPr id="3" name="Content Placeholder 2">
            <a:extLst>
              <a:ext uri="{FF2B5EF4-FFF2-40B4-BE49-F238E27FC236}">
                <a16:creationId xmlns:a16="http://schemas.microsoft.com/office/drawing/2014/main" id="{EE19A188-8BC7-EC51-9D18-3D96E3848952}"/>
              </a:ext>
            </a:extLst>
          </p:cNvPr>
          <p:cNvSpPr>
            <a:spLocks noGrp="1"/>
          </p:cNvSpPr>
          <p:nvPr>
            <p:ph idx="1"/>
          </p:nvPr>
        </p:nvSpPr>
        <p:spPr>
          <a:xfrm>
            <a:off x="887410" y="3429000"/>
            <a:ext cx="6324601" cy="2336800"/>
          </a:xfrm>
        </p:spPr>
        <p:txBody>
          <a:bodyPr>
            <a:normAutofit/>
          </a:bodyPr>
          <a:lstStyle/>
          <a:p>
            <a:pPr marL="0" indent="0">
              <a:buNone/>
            </a:pPr>
            <a:endParaRPr lang="en-IN" dirty="0"/>
          </a:p>
          <a:p>
            <a:pPr>
              <a:buFont typeface="Wingdings" panose="05000000000000000000" pitchFamily="2" charset="2"/>
              <a:buChar char="v"/>
            </a:pPr>
            <a:r>
              <a:rPr lang="en-IN" sz="1600" b="1" dirty="0"/>
              <a:t>Innovation :</a:t>
            </a:r>
            <a:endParaRPr lang="en-IN" sz="1600" dirty="0"/>
          </a:p>
          <a:p>
            <a:r>
              <a:rPr lang="en-IN" dirty="0"/>
              <a:t>Predictive AI alerts for emergencies</a:t>
            </a:r>
          </a:p>
          <a:p>
            <a:r>
              <a:rPr lang="en-IN" dirty="0"/>
              <a:t>Integrated multi‑parameter monitoring</a:t>
            </a:r>
          </a:p>
          <a:p>
            <a:r>
              <a:rPr lang="en-IN" dirty="0"/>
              <a:t>Remote access for rural/elderly patients</a:t>
            </a:r>
          </a:p>
          <a:p>
            <a:endParaRPr lang="en-IN" dirty="0"/>
          </a:p>
        </p:txBody>
      </p:sp>
      <p:sp>
        <p:nvSpPr>
          <p:cNvPr id="4" name="TextBox 3">
            <a:extLst>
              <a:ext uri="{FF2B5EF4-FFF2-40B4-BE49-F238E27FC236}">
                <a16:creationId xmlns:a16="http://schemas.microsoft.com/office/drawing/2014/main" id="{4A73DFCE-1CEB-BF8A-B758-A27B23738697}"/>
              </a:ext>
            </a:extLst>
          </p:cNvPr>
          <p:cNvSpPr txBox="1"/>
          <p:nvPr/>
        </p:nvSpPr>
        <p:spPr>
          <a:xfrm>
            <a:off x="2944237" y="2160310"/>
            <a:ext cx="5175296" cy="1508105"/>
          </a:xfrm>
          <a:prstGeom prst="rect">
            <a:avLst/>
          </a:prstGeom>
          <a:noFill/>
        </p:spPr>
        <p:txBody>
          <a:bodyPr wrap="square" rtlCol="0">
            <a:spAutoFit/>
          </a:bodyPr>
          <a:lstStyle/>
          <a:p>
            <a:pPr>
              <a:buFont typeface="Wingdings" panose="05000000000000000000" pitchFamily="2" charset="2"/>
              <a:buChar char="v"/>
            </a:pPr>
            <a:r>
              <a:rPr lang="en-IN" sz="1400" b="1" dirty="0"/>
              <a:t>Methodology :</a:t>
            </a:r>
          </a:p>
          <a:p>
            <a:endParaRPr lang="en-IN" sz="1400" dirty="0"/>
          </a:p>
          <a:p>
            <a:pPr marL="285750" indent="-285750">
              <a:buFont typeface="Arial" panose="020B0604020202020204" pitchFamily="34" charset="0"/>
              <a:buChar char="•"/>
            </a:pPr>
            <a:r>
              <a:rPr lang="en-IN" sz="1600" dirty="0"/>
              <a:t>IoT sensors + microcontrollers for vitals</a:t>
            </a:r>
          </a:p>
          <a:p>
            <a:pPr marL="285750" indent="-285750">
              <a:buFont typeface="Arial" panose="020B0604020202020204" pitchFamily="34" charset="0"/>
              <a:buChar char="•"/>
            </a:pPr>
            <a:r>
              <a:rPr lang="en-IN" sz="1600" dirty="0"/>
              <a:t>AI algorithms for anomaly detection</a:t>
            </a:r>
          </a:p>
          <a:p>
            <a:pPr marL="285750" indent="-285750">
              <a:buFont typeface="Arial" panose="020B0604020202020204" pitchFamily="34" charset="0"/>
              <a:buChar char="•"/>
            </a:pPr>
            <a:r>
              <a:rPr lang="en-IN" sz="1600" dirty="0"/>
              <a:t>Cloud storage &amp; mobile dashboards</a:t>
            </a:r>
          </a:p>
          <a:p>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533A7FB-A27A-16AE-8AA5-8333FD79E4E0}"/>
              </a:ext>
            </a:extLst>
          </p:cNvPr>
          <p:cNvSpPr txBox="1"/>
          <p:nvPr/>
        </p:nvSpPr>
        <p:spPr>
          <a:xfrm>
            <a:off x="3948110" y="5343356"/>
            <a:ext cx="6163733" cy="1815882"/>
          </a:xfrm>
          <a:prstGeom prst="rect">
            <a:avLst/>
          </a:prstGeom>
          <a:noFill/>
        </p:spPr>
        <p:txBody>
          <a:bodyPr wrap="square" rtlCol="0">
            <a:spAutoFit/>
          </a:bodyPr>
          <a:lstStyle/>
          <a:p>
            <a:pPr>
              <a:buFont typeface="Wingdings" panose="05000000000000000000" pitchFamily="2" charset="2"/>
              <a:buChar char="v"/>
            </a:pPr>
            <a:r>
              <a:rPr lang="en-IN" sz="1600" b="1" dirty="0"/>
              <a:t>Expected Improvements :</a:t>
            </a:r>
          </a:p>
          <a:p>
            <a:pPr>
              <a:buFont typeface="Wingdings" panose="05000000000000000000" pitchFamily="2" charset="2"/>
              <a:buChar char="v"/>
            </a:pPr>
            <a:endParaRPr lang="en-IN" sz="1600" dirty="0"/>
          </a:p>
          <a:p>
            <a:pPr marL="285750" indent="-285750">
              <a:buFont typeface="Wingdings" panose="05000000000000000000" pitchFamily="2" charset="2"/>
              <a:buChar char="q"/>
            </a:pPr>
            <a:r>
              <a:rPr lang="en-IN" sz="1600" dirty="0"/>
              <a:t>Faster diagnosis &amp; emergency response</a:t>
            </a:r>
          </a:p>
          <a:p>
            <a:pPr marL="285750" indent="-285750">
              <a:buFont typeface="Wingdings" panose="05000000000000000000" pitchFamily="2" charset="2"/>
              <a:buChar char="q"/>
            </a:pPr>
            <a:r>
              <a:rPr lang="en-IN" sz="1600" dirty="0"/>
              <a:t>Lower healthcare costs</a:t>
            </a:r>
          </a:p>
          <a:p>
            <a:pPr marL="285750" indent="-285750">
              <a:buFont typeface="Wingdings" panose="05000000000000000000" pitchFamily="2" charset="2"/>
              <a:buChar char="q"/>
            </a:pPr>
            <a:r>
              <a:rPr lang="en-IN" sz="1600" dirty="0"/>
              <a:t>Reduced hospital workload</a:t>
            </a:r>
          </a:p>
          <a:p>
            <a:endParaRPr lang="en-IN" sz="1600" dirty="0"/>
          </a:p>
          <a:p>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31B7109-9A1D-0FAF-78BB-BB72EA4D23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7737" y="3553738"/>
            <a:ext cx="3037877" cy="3037877"/>
          </a:xfrm>
          <a:prstGeom prst="rect">
            <a:avLst/>
          </a:prstGeom>
        </p:spPr>
      </p:pic>
    </p:spTree>
    <p:extLst>
      <p:ext uri="{BB962C8B-B14F-4D97-AF65-F5344CB8AC3E}">
        <p14:creationId xmlns:p14="http://schemas.microsoft.com/office/powerpoint/2010/main" val="32211532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CE1EE-882A-9D92-289B-12A942AA01F9}"/>
              </a:ext>
            </a:extLst>
          </p:cNvPr>
          <p:cNvSpPr>
            <a:spLocks noGrp="1"/>
          </p:cNvSpPr>
          <p:nvPr>
            <p:ph type="title"/>
          </p:nvPr>
        </p:nvSpPr>
        <p:spPr>
          <a:xfrm>
            <a:off x="1640156" y="116700"/>
            <a:ext cx="8911687" cy="1280890"/>
          </a:xfrm>
        </p:spPr>
        <p:txBody>
          <a:bodyPr>
            <a:normAutofit/>
          </a:bodyPr>
          <a:lstStyle/>
          <a:p>
            <a:r>
              <a:rPr lang="en-IN" sz="2000" dirty="0">
                <a:latin typeface="Times New Roman"/>
                <a:ea typeface="Times New Roman"/>
                <a:cs typeface="Times New Roman"/>
                <a:sym typeface="Times New Roman"/>
              </a:rPr>
              <a:t>Subsystem Explanation - I</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FF384DC-5B32-86C1-CFA1-E0D8CCD6BB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803" y="1870018"/>
            <a:ext cx="1026682" cy="974181"/>
          </a:xfrm>
          <a:prstGeom prst="rect">
            <a:avLst/>
          </a:prstGeom>
        </p:spPr>
      </p:pic>
      <p:sp>
        <p:nvSpPr>
          <p:cNvPr id="6" name="TextBox 5">
            <a:extLst>
              <a:ext uri="{FF2B5EF4-FFF2-40B4-BE49-F238E27FC236}">
                <a16:creationId xmlns:a16="http://schemas.microsoft.com/office/drawing/2014/main" id="{56B9012E-2B97-1081-0AF4-51E2B0743344}"/>
              </a:ext>
            </a:extLst>
          </p:cNvPr>
          <p:cNvSpPr txBox="1"/>
          <p:nvPr/>
        </p:nvSpPr>
        <p:spPr>
          <a:xfrm>
            <a:off x="629460" y="1780744"/>
            <a:ext cx="2504212" cy="276999"/>
          </a:xfrm>
          <a:prstGeom prst="rect">
            <a:avLst/>
          </a:prstGeom>
          <a:noFill/>
        </p:spPr>
        <p:txBody>
          <a:bodyPr wrap="none" rtlCol="0">
            <a:spAutoFit/>
          </a:bodyPr>
          <a:lstStyle/>
          <a:p>
            <a:r>
              <a:rPr lang="en-IN" sz="1200" dirty="0"/>
              <a:t>🌐 ESP32 Development Board :</a:t>
            </a:r>
          </a:p>
        </p:txBody>
      </p:sp>
      <p:sp>
        <p:nvSpPr>
          <p:cNvPr id="7" name="Arrow: Right 6">
            <a:extLst>
              <a:ext uri="{FF2B5EF4-FFF2-40B4-BE49-F238E27FC236}">
                <a16:creationId xmlns:a16="http://schemas.microsoft.com/office/drawing/2014/main" id="{614B93D7-3229-C6CD-0579-301E6A35237A}"/>
              </a:ext>
            </a:extLst>
          </p:cNvPr>
          <p:cNvSpPr/>
          <p:nvPr/>
        </p:nvSpPr>
        <p:spPr>
          <a:xfrm>
            <a:off x="2730687" y="2250704"/>
            <a:ext cx="347133" cy="83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9E63233-3EA5-E452-67A5-0CB3FF14B79F}"/>
              </a:ext>
            </a:extLst>
          </p:cNvPr>
          <p:cNvSpPr txBox="1"/>
          <p:nvPr/>
        </p:nvSpPr>
        <p:spPr>
          <a:xfrm>
            <a:off x="3352167" y="1859314"/>
            <a:ext cx="6867586" cy="984885"/>
          </a:xfrm>
          <a:prstGeom prst="rect">
            <a:avLst/>
          </a:prstGeom>
          <a:noFill/>
        </p:spPr>
        <p:txBody>
          <a:bodyPr wrap="none" rtlCol="0">
            <a:spAutoFit/>
          </a:bodyPr>
          <a:lstStyle/>
          <a:p>
            <a:pPr marL="285750" indent="-285750">
              <a:buFont typeface="Wingdings" panose="05000000000000000000" pitchFamily="2" charset="2"/>
              <a:buChar char="q"/>
            </a:pPr>
            <a:r>
              <a:rPr lang="en-IN" sz="1400" dirty="0"/>
              <a:t>A powerful microcontroller with built‑in Wi‑Fi and Bluetooth for IoT projects.</a:t>
            </a:r>
          </a:p>
          <a:p>
            <a:pPr marL="285750" indent="-285750">
              <a:buFont typeface="Wingdings" panose="05000000000000000000" pitchFamily="2" charset="2"/>
              <a:buChar char="q"/>
            </a:pPr>
            <a:r>
              <a:rPr lang="en-IN" sz="1400" dirty="0"/>
              <a:t> Supports multiple GPIOs, ADCs, and communication protocols for </a:t>
            </a:r>
          </a:p>
          <a:p>
            <a:r>
              <a:rPr lang="en-IN" sz="1400" dirty="0"/>
              <a:t>        connecting sensors and actuators.</a:t>
            </a:r>
          </a:p>
          <a:p>
            <a:endParaRPr lang="en-IN" sz="16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3BA20C5-FDC4-243D-657B-1CC84058BC63}"/>
              </a:ext>
            </a:extLst>
          </p:cNvPr>
          <p:cNvPicPr>
            <a:picLocks noChangeAspect="1"/>
          </p:cNvPicPr>
          <p:nvPr/>
        </p:nvPicPr>
        <p:blipFill>
          <a:blip r:embed="rId3">
            <a:extLst>
              <a:ext uri="{28A0092B-C50C-407E-A947-70E740481C1C}">
                <a14:useLocalDpi xmlns:a14="http://schemas.microsoft.com/office/drawing/2010/main" val="0"/>
              </a:ext>
            </a:extLst>
          </a:blip>
          <a:srcRect l="10099" t="20996" r="13333" b="16933"/>
          <a:stretch>
            <a:fillRect/>
          </a:stretch>
        </p:blipFill>
        <p:spPr>
          <a:xfrm>
            <a:off x="1486917" y="3326316"/>
            <a:ext cx="1424616" cy="1154896"/>
          </a:xfrm>
          <a:prstGeom prst="rect">
            <a:avLst/>
          </a:prstGeom>
        </p:spPr>
      </p:pic>
      <p:sp>
        <p:nvSpPr>
          <p:cNvPr id="12" name="TextBox 11">
            <a:extLst>
              <a:ext uri="{FF2B5EF4-FFF2-40B4-BE49-F238E27FC236}">
                <a16:creationId xmlns:a16="http://schemas.microsoft.com/office/drawing/2014/main" id="{70C98288-EC7D-F4C8-C721-741447996AF1}"/>
              </a:ext>
            </a:extLst>
          </p:cNvPr>
          <p:cNvSpPr txBox="1"/>
          <p:nvPr/>
        </p:nvSpPr>
        <p:spPr>
          <a:xfrm>
            <a:off x="1486917" y="2856879"/>
            <a:ext cx="2906565" cy="276999"/>
          </a:xfrm>
          <a:prstGeom prst="rect">
            <a:avLst/>
          </a:prstGeom>
          <a:noFill/>
        </p:spPr>
        <p:txBody>
          <a:bodyPr wrap="none" rtlCol="0">
            <a:spAutoFit/>
          </a:bodyPr>
          <a:lstStyle/>
          <a:p>
            <a:r>
              <a:rPr lang="en-IN" sz="1200" dirty="0"/>
              <a:t>❤️ Pulse/Heart Rate Sensor Module :</a:t>
            </a:r>
            <a:endParaRPr lang="en-IN" sz="1200" dirty="0">
              <a:latin typeface="Times New Roman" panose="02020603050405020304" pitchFamily="18" charset="0"/>
              <a:cs typeface="Times New Roman" panose="02020603050405020304" pitchFamily="18" charset="0"/>
            </a:endParaRPr>
          </a:p>
        </p:txBody>
      </p:sp>
      <p:sp>
        <p:nvSpPr>
          <p:cNvPr id="14" name="Arrow: Right 13">
            <a:extLst>
              <a:ext uri="{FF2B5EF4-FFF2-40B4-BE49-F238E27FC236}">
                <a16:creationId xmlns:a16="http://schemas.microsoft.com/office/drawing/2014/main" id="{84C3F2DB-6544-5209-E1FE-8A9ABFB9B7B2}"/>
              </a:ext>
            </a:extLst>
          </p:cNvPr>
          <p:cNvSpPr/>
          <p:nvPr/>
        </p:nvSpPr>
        <p:spPr>
          <a:xfrm>
            <a:off x="3083350" y="3863460"/>
            <a:ext cx="349884" cy="81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A0EC110-C5EA-A269-9B84-6EFEF5542490}"/>
              </a:ext>
            </a:extLst>
          </p:cNvPr>
          <p:cNvSpPr txBox="1"/>
          <p:nvPr/>
        </p:nvSpPr>
        <p:spPr>
          <a:xfrm>
            <a:off x="3605051" y="3288211"/>
            <a:ext cx="7361662" cy="1231106"/>
          </a:xfrm>
          <a:prstGeom prst="rect">
            <a:avLst/>
          </a:prstGeom>
          <a:noFill/>
        </p:spPr>
        <p:txBody>
          <a:bodyPr wrap="square" rtlCol="0">
            <a:spAutoFit/>
          </a:bodyPr>
          <a:lstStyle/>
          <a:p>
            <a:pPr marL="285750" indent="-285750">
              <a:buFont typeface="Wingdings" panose="05000000000000000000" pitchFamily="2" charset="2"/>
              <a:buChar char="q"/>
            </a:pPr>
            <a:r>
              <a:rPr lang="en-IN" sz="1400" dirty="0"/>
              <a:t>Detects changes in blood volume using light, producing signals that </a:t>
            </a:r>
          </a:p>
          <a:p>
            <a:r>
              <a:rPr lang="en-IN" sz="1400" dirty="0"/>
              <a:t>represent heartbeats.</a:t>
            </a:r>
          </a:p>
          <a:p>
            <a:pPr marL="285750" indent="-285750">
              <a:buFont typeface="Wingdings" panose="05000000000000000000" pitchFamily="2" charset="2"/>
              <a:buChar char="q"/>
            </a:pPr>
            <a:r>
              <a:rPr lang="en-IN" sz="1400" dirty="0"/>
              <a:t>Outputs data via pins (SDA/SCL for I²C, INT for interrupts) to a microcontroller </a:t>
            </a:r>
          </a:p>
          <a:p>
            <a:r>
              <a:rPr lang="en-IN" sz="1400" dirty="0"/>
              <a:t>for heart rate monitoring.</a:t>
            </a:r>
          </a:p>
          <a:p>
            <a:endParaRPr lang="en-IN" dirty="0"/>
          </a:p>
        </p:txBody>
      </p:sp>
      <p:pic>
        <p:nvPicPr>
          <p:cNvPr id="17" name="Picture 16">
            <a:extLst>
              <a:ext uri="{FF2B5EF4-FFF2-40B4-BE49-F238E27FC236}">
                <a16:creationId xmlns:a16="http://schemas.microsoft.com/office/drawing/2014/main" id="{A7967442-15DE-FAD3-8D28-9C7F98344ECD}"/>
              </a:ext>
            </a:extLst>
          </p:cNvPr>
          <p:cNvPicPr>
            <a:picLocks noChangeAspect="1"/>
          </p:cNvPicPr>
          <p:nvPr/>
        </p:nvPicPr>
        <p:blipFill>
          <a:blip r:embed="rId4">
            <a:extLst>
              <a:ext uri="{28A0092B-C50C-407E-A947-70E740481C1C}">
                <a14:useLocalDpi xmlns:a14="http://schemas.microsoft.com/office/drawing/2010/main" val="0"/>
              </a:ext>
            </a:extLst>
          </a:blip>
          <a:srcRect l="3671" t="6791" r="1112"/>
          <a:stretch>
            <a:fillRect/>
          </a:stretch>
        </p:blipFill>
        <p:spPr>
          <a:xfrm rot="10800000" flipV="1">
            <a:off x="1486917" y="5104105"/>
            <a:ext cx="1252106" cy="1225706"/>
          </a:xfrm>
          <a:prstGeom prst="rect">
            <a:avLst/>
          </a:prstGeom>
        </p:spPr>
      </p:pic>
      <p:sp>
        <p:nvSpPr>
          <p:cNvPr id="18" name="TextBox 17">
            <a:extLst>
              <a:ext uri="{FF2B5EF4-FFF2-40B4-BE49-F238E27FC236}">
                <a16:creationId xmlns:a16="http://schemas.microsoft.com/office/drawing/2014/main" id="{1DB4B0BB-A5BC-1BF4-BDE5-A802BE7F9DDC}"/>
              </a:ext>
            </a:extLst>
          </p:cNvPr>
          <p:cNvSpPr txBox="1"/>
          <p:nvPr/>
        </p:nvSpPr>
        <p:spPr>
          <a:xfrm>
            <a:off x="1486917" y="4673650"/>
            <a:ext cx="1606530" cy="276999"/>
          </a:xfrm>
          <a:prstGeom prst="rect">
            <a:avLst/>
          </a:prstGeom>
          <a:noFill/>
        </p:spPr>
        <p:txBody>
          <a:bodyPr wrap="none" rtlCol="0">
            <a:spAutoFit/>
          </a:bodyPr>
          <a:lstStyle/>
          <a:p>
            <a:r>
              <a:rPr lang="en-IN" sz="1200" dirty="0"/>
              <a:t>📈 ECG Sensor Kit :</a:t>
            </a:r>
          </a:p>
        </p:txBody>
      </p:sp>
      <p:sp>
        <p:nvSpPr>
          <p:cNvPr id="19" name="Arrow: Right 18">
            <a:extLst>
              <a:ext uri="{FF2B5EF4-FFF2-40B4-BE49-F238E27FC236}">
                <a16:creationId xmlns:a16="http://schemas.microsoft.com/office/drawing/2014/main" id="{2C3C86D0-46AF-6AE3-8893-0B7EEF633C8A}"/>
              </a:ext>
            </a:extLst>
          </p:cNvPr>
          <p:cNvSpPr/>
          <p:nvPr/>
        </p:nvSpPr>
        <p:spPr>
          <a:xfrm>
            <a:off x="3014134" y="5716958"/>
            <a:ext cx="419100" cy="818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5A7C02B-4BE3-0C21-F086-B1493922C43B}"/>
              </a:ext>
            </a:extLst>
          </p:cNvPr>
          <p:cNvSpPr txBox="1"/>
          <p:nvPr/>
        </p:nvSpPr>
        <p:spPr>
          <a:xfrm>
            <a:off x="3723376" y="5375704"/>
            <a:ext cx="7243337" cy="954107"/>
          </a:xfrm>
          <a:prstGeom prst="rect">
            <a:avLst/>
          </a:prstGeom>
          <a:noFill/>
        </p:spPr>
        <p:txBody>
          <a:bodyPr wrap="square" rtlCol="0">
            <a:spAutoFit/>
          </a:bodyPr>
          <a:lstStyle/>
          <a:p>
            <a:pPr marL="285750" indent="-285750">
              <a:buFont typeface="Wingdings" panose="05000000000000000000" pitchFamily="2" charset="2"/>
              <a:buChar char="q"/>
            </a:pPr>
            <a:r>
              <a:rPr lang="en-IN" sz="1400" dirty="0"/>
              <a:t>Measures electrical signals from the heart using electrodes placed on the skin.</a:t>
            </a:r>
          </a:p>
          <a:p>
            <a:pPr marL="285750" indent="-285750">
              <a:buFont typeface="Wingdings" panose="05000000000000000000" pitchFamily="2" charset="2"/>
              <a:buChar char="q"/>
            </a:pPr>
            <a:r>
              <a:rPr lang="en-IN" sz="1400" dirty="0"/>
              <a:t>Sends amplified and filtered signals to a microcontroller for ECG waveform analysis.</a:t>
            </a: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3913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rrow: Right 6">
            <a:extLst>
              <a:ext uri="{FF2B5EF4-FFF2-40B4-BE49-F238E27FC236}">
                <a16:creationId xmlns:a16="http://schemas.microsoft.com/office/drawing/2014/main" id="{C13BCEDE-D9D4-6B54-C6F5-9966EFF933D2}"/>
              </a:ext>
            </a:extLst>
          </p:cNvPr>
          <p:cNvSpPr/>
          <p:nvPr/>
        </p:nvSpPr>
        <p:spPr>
          <a:xfrm>
            <a:off x="3634338" y="2377518"/>
            <a:ext cx="27093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DA190EC-B21F-5E9E-A339-7752614BC1BA}"/>
              </a:ext>
            </a:extLst>
          </p:cNvPr>
          <p:cNvSpPr txBox="1"/>
          <p:nvPr/>
        </p:nvSpPr>
        <p:spPr>
          <a:xfrm>
            <a:off x="4400065" y="2113299"/>
            <a:ext cx="5094664" cy="338554"/>
          </a:xfrm>
          <a:prstGeom prst="rect">
            <a:avLst/>
          </a:prstGeom>
          <a:noFill/>
        </p:spPr>
        <p:txBody>
          <a:bodyPr wrap="none" rtlCol="0">
            <a:spAutoFit/>
          </a:bodyPr>
          <a:lstStyle/>
          <a:p>
            <a:pPr marL="285750" indent="-285750">
              <a:buFont typeface="Wingdings" panose="05000000000000000000" pitchFamily="2" charset="2"/>
              <a:buChar char="q"/>
            </a:pPr>
            <a:r>
              <a:rPr lang="en-IN" sz="1600" dirty="0"/>
              <a:t>Non‑contact body temperature measurement</a:t>
            </a:r>
          </a:p>
        </p:txBody>
      </p:sp>
      <p:pic>
        <p:nvPicPr>
          <p:cNvPr id="10" name="Picture 9">
            <a:extLst>
              <a:ext uri="{FF2B5EF4-FFF2-40B4-BE49-F238E27FC236}">
                <a16:creationId xmlns:a16="http://schemas.microsoft.com/office/drawing/2014/main" id="{8865FAF0-04E4-4324-392D-91DF38D02600}"/>
              </a:ext>
            </a:extLst>
          </p:cNvPr>
          <p:cNvPicPr>
            <a:picLocks noChangeAspect="1"/>
          </p:cNvPicPr>
          <p:nvPr/>
        </p:nvPicPr>
        <p:blipFill>
          <a:blip r:embed="rId2">
            <a:extLst>
              <a:ext uri="{28A0092B-C50C-407E-A947-70E740481C1C}">
                <a14:useLocalDpi xmlns:a14="http://schemas.microsoft.com/office/drawing/2010/main" val="0"/>
              </a:ext>
            </a:extLst>
          </a:blip>
          <a:srcRect l="7654" t="23086" r="11234" b="25432"/>
          <a:stretch>
            <a:fillRect/>
          </a:stretch>
        </p:blipFill>
        <p:spPr>
          <a:xfrm>
            <a:off x="1408864" y="3353269"/>
            <a:ext cx="1490063" cy="945749"/>
          </a:xfrm>
          <a:prstGeom prst="rect">
            <a:avLst/>
          </a:prstGeom>
        </p:spPr>
      </p:pic>
      <p:sp>
        <p:nvSpPr>
          <p:cNvPr id="11" name="TextBox 10">
            <a:extLst>
              <a:ext uri="{FF2B5EF4-FFF2-40B4-BE49-F238E27FC236}">
                <a16:creationId xmlns:a16="http://schemas.microsoft.com/office/drawing/2014/main" id="{1A678060-076A-3206-D792-4A7BCB2C9067}"/>
              </a:ext>
            </a:extLst>
          </p:cNvPr>
          <p:cNvSpPr txBox="1"/>
          <p:nvPr/>
        </p:nvSpPr>
        <p:spPr>
          <a:xfrm>
            <a:off x="992320" y="2994520"/>
            <a:ext cx="1776448" cy="276999"/>
          </a:xfrm>
          <a:prstGeom prst="rect">
            <a:avLst/>
          </a:prstGeom>
          <a:noFill/>
        </p:spPr>
        <p:txBody>
          <a:bodyPr wrap="none" rtlCol="0">
            <a:spAutoFit/>
          </a:bodyPr>
          <a:lstStyle/>
          <a:p>
            <a:r>
              <a:rPr lang="en-IN" sz="1200" b="1" dirty="0"/>
              <a:t>📟 LCD 16x2 Display :</a:t>
            </a:r>
            <a:endParaRPr lang="en-IN" sz="1200" b="1" dirty="0">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D9D1155E-22BC-DC40-2C16-8B45DA4EDD20}"/>
              </a:ext>
            </a:extLst>
          </p:cNvPr>
          <p:cNvSpPr/>
          <p:nvPr/>
        </p:nvSpPr>
        <p:spPr>
          <a:xfrm>
            <a:off x="3676139" y="3826143"/>
            <a:ext cx="27093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8DFD9313-D8CC-2A86-19CB-C51A810D00B7}"/>
              </a:ext>
            </a:extLst>
          </p:cNvPr>
          <p:cNvSpPr txBox="1"/>
          <p:nvPr/>
        </p:nvSpPr>
        <p:spPr>
          <a:xfrm>
            <a:off x="4213799" y="3326453"/>
            <a:ext cx="7978466" cy="1077218"/>
          </a:xfrm>
          <a:prstGeom prst="rect">
            <a:avLst/>
          </a:prstGeom>
          <a:noFill/>
        </p:spPr>
        <p:txBody>
          <a:bodyPr wrap="none" rtlCol="0">
            <a:spAutoFit/>
          </a:bodyPr>
          <a:lstStyle/>
          <a:p>
            <a:pPr marL="285750" indent="-285750">
              <a:buFont typeface="Wingdings" panose="05000000000000000000" pitchFamily="2" charset="2"/>
              <a:buChar char="q"/>
            </a:pPr>
            <a:r>
              <a:rPr lang="en-IN" sz="1600" dirty="0"/>
              <a:t>Displays alphanumeric characters (16 per line, 2 lines) for sensor readings </a:t>
            </a:r>
          </a:p>
          <a:p>
            <a:r>
              <a:rPr lang="en-IN" sz="1600" dirty="0"/>
              <a:t>      or messages.</a:t>
            </a:r>
          </a:p>
          <a:p>
            <a:pPr marL="285750" indent="-285750">
              <a:buFont typeface="Wingdings" panose="05000000000000000000" pitchFamily="2" charset="2"/>
              <a:buChar char="q"/>
            </a:pPr>
            <a:r>
              <a:rPr lang="en-IN" sz="1600" dirty="0"/>
              <a:t>Controlled via parallel or I²C interface, with adjustable backlight for visibility.</a:t>
            </a:r>
          </a:p>
          <a:p>
            <a:endParaRPr lang="en-IN"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7A8BF8B-6169-6859-246D-84928557208D}"/>
              </a:ext>
            </a:extLst>
          </p:cNvPr>
          <p:cNvSpPr txBox="1"/>
          <p:nvPr/>
        </p:nvSpPr>
        <p:spPr>
          <a:xfrm>
            <a:off x="992320" y="4403671"/>
            <a:ext cx="1598515" cy="276999"/>
          </a:xfrm>
          <a:prstGeom prst="rect">
            <a:avLst/>
          </a:prstGeom>
          <a:noFill/>
        </p:spPr>
        <p:txBody>
          <a:bodyPr wrap="none" rtlCol="0">
            <a:spAutoFit/>
          </a:bodyPr>
          <a:lstStyle/>
          <a:p>
            <a:r>
              <a:rPr lang="en-IN" sz="1200" b="1" dirty="0"/>
              <a:t>🔊 Buzzer Module :</a:t>
            </a:r>
            <a:endParaRPr lang="en-IN" sz="1200"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8E754490-A24A-6E39-330E-E1FF9EEB2414}"/>
              </a:ext>
            </a:extLst>
          </p:cNvPr>
          <p:cNvPicPr>
            <a:picLocks noChangeAspect="1"/>
          </p:cNvPicPr>
          <p:nvPr/>
        </p:nvPicPr>
        <p:blipFill>
          <a:blip r:embed="rId3">
            <a:extLst>
              <a:ext uri="{28A0092B-C50C-407E-A947-70E740481C1C}">
                <a14:useLocalDpi xmlns:a14="http://schemas.microsoft.com/office/drawing/2010/main" val="0"/>
              </a:ext>
            </a:extLst>
          </a:blip>
          <a:srcRect l="2099" t="5432" r="1728" b="16296"/>
          <a:stretch>
            <a:fillRect/>
          </a:stretch>
        </p:blipFill>
        <p:spPr>
          <a:xfrm>
            <a:off x="1569732" y="5004097"/>
            <a:ext cx="1168329" cy="950861"/>
          </a:xfrm>
          <a:prstGeom prst="rect">
            <a:avLst/>
          </a:prstGeom>
        </p:spPr>
      </p:pic>
      <p:sp>
        <p:nvSpPr>
          <p:cNvPr id="17" name="Arrow: Right 16">
            <a:extLst>
              <a:ext uri="{FF2B5EF4-FFF2-40B4-BE49-F238E27FC236}">
                <a16:creationId xmlns:a16="http://schemas.microsoft.com/office/drawing/2014/main" id="{AA815CE5-97C9-66AD-1637-51056ECDAB14}"/>
              </a:ext>
            </a:extLst>
          </p:cNvPr>
          <p:cNvSpPr/>
          <p:nvPr/>
        </p:nvSpPr>
        <p:spPr>
          <a:xfrm>
            <a:off x="3461261" y="5345887"/>
            <a:ext cx="27093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744ECD6-A206-219B-9B1B-8D90A3FC39F2}"/>
              </a:ext>
            </a:extLst>
          </p:cNvPr>
          <p:cNvSpPr txBox="1"/>
          <p:nvPr/>
        </p:nvSpPr>
        <p:spPr>
          <a:xfrm>
            <a:off x="4213799" y="5004097"/>
            <a:ext cx="7117654" cy="584775"/>
          </a:xfrm>
          <a:prstGeom prst="rect">
            <a:avLst/>
          </a:prstGeom>
          <a:noFill/>
        </p:spPr>
        <p:txBody>
          <a:bodyPr wrap="none" rtlCol="0">
            <a:spAutoFit/>
          </a:bodyPr>
          <a:lstStyle/>
          <a:p>
            <a:pPr marL="285750" indent="-285750">
              <a:buFont typeface="Wingdings" panose="05000000000000000000" pitchFamily="2" charset="2"/>
              <a:buChar char="q"/>
            </a:pPr>
            <a:r>
              <a:rPr lang="en-IN" sz="1600" dirty="0"/>
              <a:t>Produces sound alerts when triggered by a microcontroller signal.</a:t>
            </a:r>
          </a:p>
          <a:p>
            <a:pPr marL="285750" indent="-285750">
              <a:buFont typeface="Wingdings" panose="05000000000000000000" pitchFamily="2" charset="2"/>
              <a:buChar char="q"/>
            </a:pPr>
            <a:r>
              <a:rPr lang="en-IN" sz="1600" dirty="0"/>
              <a:t>Can be set as active/passive, often used for alarms or notifications.</a:t>
            </a:r>
          </a:p>
        </p:txBody>
      </p:sp>
      <p:sp>
        <p:nvSpPr>
          <p:cNvPr id="19" name="TextBox 18">
            <a:extLst>
              <a:ext uri="{FF2B5EF4-FFF2-40B4-BE49-F238E27FC236}">
                <a16:creationId xmlns:a16="http://schemas.microsoft.com/office/drawing/2014/main" id="{43002036-0A77-2C20-7EBA-EF56767F892D}"/>
              </a:ext>
            </a:extLst>
          </p:cNvPr>
          <p:cNvSpPr txBox="1"/>
          <p:nvPr/>
        </p:nvSpPr>
        <p:spPr>
          <a:xfrm>
            <a:off x="950683" y="6324813"/>
            <a:ext cx="2180405" cy="369332"/>
          </a:xfrm>
          <a:prstGeom prst="rect">
            <a:avLst/>
          </a:prstGeom>
          <a:noFill/>
        </p:spPr>
        <p:txBody>
          <a:bodyPr wrap="none" rtlCol="0">
            <a:spAutoFit/>
          </a:bodyPr>
          <a:lstStyle/>
          <a:p>
            <a:r>
              <a:rPr lang="en-IN" b="1" dirty="0"/>
              <a:t>⚡ </a:t>
            </a:r>
            <a:r>
              <a:rPr lang="en-IN" sz="1200" b="1" dirty="0"/>
              <a:t>Power Supply Module</a:t>
            </a:r>
          </a:p>
        </p:txBody>
      </p:sp>
      <p:sp>
        <p:nvSpPr>
          <p:cNvPr id="20" name="Arrow: Right 19">
            <a:extLst>
              <a:ext uri="{FF2B5EF4-FFF2-40B4-BE49-F238E27FC236}">
                <a16:creationId xmlns:a16="http://schemas.microsoft.com/office/drawing/2014/main" id="{BA10F35A-9638-3AF1-DC6D-C53412A1C266}"/>
              </a:ext>
            </a:extLst>
          </p:cNvPr>
          <p:cNvSpPr/>
          <p:nvPr/>
        </p:nvSpPr>
        <p:spPr>
          <a:xfrm>
            <a:off x="3329006" y="6486619"/>
            <a:ext cx="267722"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7B9D5330-16E5-98B1-2EE4-EE37F527CE40}"/>
              </a:ext>
            </a:extLst>
          </p:cNvPr>
          <p:cNvSpPr txBox="1"/>
          <p:nvPr/>
        </p:nvSpPr>
        <p:spPr>
          <a:xfrm>
            <a:off x="3821678" y="6270728"/>
            <a:ext cx="7526804" cy="523220"/>
          </a:xfrm>
          <a:prstGeom prst="rect">
            <a:avLst/>
          </a:prstGeom>
          <a:noFill/>
        </p:spPr>
        <p:txBody>
          <a:bodyPr wrap="square" rtlCol="0">
            <a:spAutoFit/>
          </a:bodyPr>
          <a:lstStyle/>
          <a:p>
            <a:pPr marL="285750" indent="-285750">
              <a:buFont typeface="Wingdings" panose="05000000000000000000" pitchFamily="2" charset="2"/>
              <a:buChar char="q"/>
            </a:pPr>
            <a:r>
              <a:rPr lang="en-IN" sz="1400" dirty="0"/>
              <a:t>Provides a stable </a:t>
            </a:r>
            <a:r>
              <a:rPr lang="en-IN" sz="1400" b="1" dirty="0"/>
              <a:t>5V / 3.3V regulated output</a:t>
            </a:r>
            <a:r>
              <a:rPr lang="en-IN" sz="1400" dirty="0"/>
              <a:t> to power the ESP32 and all connected modules.</a:t>
            </a:r>
          </a:p>
        </p:txBody>
      </p:sp>
      <p:pic>
        <p:nvPicPr>
          <p:cNvPr id="3" name="Picture 2">
            <a:extLst>
              <a:ext uri="{FF2B5EF4-FFF2-40B4-BE49-F238E27FC236}">
                <a16:creationId xmlns:a16="http://schemas.microsoft.com/office/drawing/2014/main" id="{D053A7EB-E676-8135-4932-B9688F91D7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1577" y="1862368"/>
            <a:ext cx="1178971" cy="1178971"/>
          </a:xfrm>
          <a:prstGeom prst="rect">
            <a:avLst/>
          </a:prstGeom>
        </p:spPr>
      </p:pic>
      <p:sp>
        <p:nvSpPr>
          <p:cNvPr id="6" name="TextBox 5">
            <a:extLst>
              <a:ext uri="{FF2B5EF4-FFF2-40B4-BE49-F238E27FC236}">
                <a16:creationId xmlns:a16="http://schemas.microsoft.com/office/drawing/2014/main" id="{2D52D6DB-DD56-FB5E-9345-F04F211765B7}"/>
              </a:ext>
            </a:extLst>
          </p:cNvPr>
          <p:cNvSpPr txBox="1"/>
          <p:nvPr/>
        </p:nvSpPr>
        <p:spPr>
          <a:xfrm>
            <a:off x="749504" y="1809393"/>
            <a:ext cx="2808782" cy="276999"/>
          </a:xfrm>
          <a:prstGeom prst="rect">
            <a:avLst/>
          </a:prstGeom>
          <a:noFill/>
        </p:spPr>
        <p:txBody>
          <a:bodyPr wrap="none" rtlCol="0">
            <a:spAutoFit/>
          </a:bodyPr>
          <a:lstStyle/>
          <a:p>
            <a:r>
              <a:rPr lang="en-IN" sz="1200" b="1" dirty="0"/>
              <a:t>🌡️ MLX90614</a:t>
            </a:r>
            <a:r>
              <a:rPr lang="en-IN" sz="1200" dirty="0"/>
              <a:t> </a:t>
            </a:r>
            <a:r>
              <a:rPr lang="en-IN" sz="1200" b="1" dirty="0"/>
              <a:t>Temperature Sensor  :</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210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A239F5-A95A-27A8-9982-F7F2C0EC9554}"/>
              </a:ext>
            </a:extLst>
          </p:cNvPr>
          <p:cNvSpPr txBox="1"/>
          <p:nvPr/>
        </p:nvSpPr>
        <p:spPr>
          <a:xfrm>
            <a:off x="863600" y="1937115"/>
            <a:ext cx="2074333" cy="338554"/>
          </a:xfrm>
          <a:prstGeom prst="rect">
            <a:avLst/>
          </a:prstGeom>
          <a:noFill/>
        </p:spPr>
        <p:txBody>
          <a:bodyPr wrap="square" rtlCol="0">
            <a:spAutoFit/>
          </a:bodyPr>
          <a:lstStyle/>
          <a:p>
            <a:r>
              <a:rPr lang="en-IN" sz="1600" dirty="0"/>
              <a:t>MPU6050 :</a:t>
            </a:r>
          </a:p>
        </p:txBody>
      </p:sp>
      <p:pic>
        <p:nvPicPr>
          <p:cNvPr id="6" name="Picture 5">
            <a:extLst>
              <a:ext uri="{FF2B5EF4-FFF2-40B4-BE49-F238E27FC236}">
                <a16:creationId xmlns:a16="http://schemas.microsoft.com/office/drawing/2014/main" id="{093AC931-305A-CB39-ADC0-042EED82A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4266" y="2045889"/>
            <a:ext cx="1464131" cy="1253179"/>
          </a:xfrm>
          <a:prstGeom prst="rect">
            <a:avLst/>
          </a:prstGeom>
        </p:spPr>
      </p:pic>
      <p:sp>
        <p:nvSpPr>
          <p:cNvPr id="9" name="TextBox 8">
            <a:extLst>
              <a:ext uri="{FF2B5EF4-FFF2-40B4-BE49-F238E27FC236}">
                <a16:creationId xmlns:a16="http://schemas.microsoft.com/office/drawing/2014/main" id="{0E29D313-7263-223E-1B91-90E1674CD3AE}"/>
              </a:ext>
            </a:extLst>
          </p:cNvPr>
          <p:cNvSpPr txBox="1"/>
          <p:nvPr/>
        </p:nvSpPr>
        <p:spPr>
          <a:xfrm>
            <a:off x="4267200" y="2538282"/>
            <a:ext cx="7730066" cy="369332"/>
          </a:xfrm>
          <a:prstGeom prst="rect">
            <a:avLst/>
          </a:prstGeom>
          <a:noFill/>
        </p:spPr>
        <p:txBody>
          <a:bodyPr wrap="square" rtlCol="0">
            <a:spAutoFit/>
          </a:bodyPr>
          <a:lstStyle/>
          <a:p>
            <a:r>
              <a:rPr lang="en-IN" dirty="0"/>
              <a:t>Detects motion and falls using accelerometer and gyroscope data.</a:t>
            </a:r>
          </a:p>
        </p:txBody>
      </p:sp>
      <p:pic>
        <p:nvPicPr>
          <p:cNvPr id="12" name="Picture 11">
            <a:extLst>
              <a:ext uri="{FF2B5EF4-FFF2-40B4-BE49-F238E27FC236}">
                <a16:creationId xmlns:a16="http://schemas.microsoft.com/office/drawing/2014/main" id="{3C82637E-6422-9844-B98B-F3057B684682}"/>
              </a:ext>
            </a:extLst>
          </p:cNvPr>
          <p:cNvPicPr>
            <a:picLocks noChangeAspect="1"/>
          </p:cNvPicPr>
          <p:nvPr/>
        </p:nvPicPr>
        <p:blipFill>
          <a:blip r:embed="rId3">
            <a:extLst>
              <a:ext uri="{28A0092B-C50C-407E-A947-70E740481C1C}">
                <a14:useLocalDpi xmlns:a14="http://schemas.microsoft.com/office/drawing/2010/main" val="0"/>
              </a:ext>
            </a:extLst>
          </a:blip>
          <a:srcRect l="16050" t="24074" r="17901" b="20539"/>
          <a:stretch>
            <a:fillRect/>
          </a:stretch>
        </p:blipFill>
        <p:spPr>
          <a:xfrm>
            <a:off x="1964266" y="3574982"/>
            <a:ext cx="1261533" cy="1057869"/>
          </a:xfrm>
          <a:prstGeom prst="rect">
            <a:avLst/>
          </a:prstGeom>
        </p:spPr>
      </p:pic>
      <p:sp>
        <p:nvSpPr>
          <p:cNvPr id="13" name="TextBox 12">
            <a:extLst>
              <a:ext uri="{FF2B5EF4-FFF2-40B4-BE49-F238E27FC236}">
                <a16:creationId xmlns:a16="http://schemas.microsoft.com/office/drawing/2014/main" id="{0FD5949D-2DE3-C330-D5F4-D8079F7B8407}"/>
              </a:ext>
            </a:extLst>
          </p:cNvPr>
          <p:cNvSpPr txBox="1"/>
          <p:nvPr/>
        </p:nvSpPr>
        <p:spPr>
          <a:xfrm>
            <a:off x="4267200" y="3948727"/>
            <a:ext cx="7730066" cy="369332"/>
          </a:xfrm>
          <a:prstGeom prst="rect">
            <a:avLst/>
          </a:prstGeom>
          <a:noFill/>
        </p:spPr>
        <p:txBody>
          <a:bodyPr wrap="square" rtlCol="0">
            <a:spAutoFit/>
          </a:bodyPr>
          <a:lstStyle/>
          <a:p>
            <a:r>
              <a:rPr lang="en-IN" dirty="0"/>
              <a:t>Tracks patient location during emergencies for remote assistance.</a:t>
            </a:r>
          </a:p>
        </p:txBody>
      </p:sp>
      <p:sp>
        <p:nvSpPr>
          <p:cNvPr id="15" name="TextBox 14">
            <a:extLst>
              <a:ext uri="{FF2B5EF4-FFF2-40B4-BE49-F238E27FC236}">
                <a16:creationId xmlns:a16="http://schemas.microsoft.com/office/drawing/2014/main" id="{E187B5D2-F988-C0E6-D44D-57636C471CF2}"/>
              </a:ext>
            </a:extLst>
          </p:cNvPr>
          <p:cNvSpPr txBox="1"/>
          <p:nvPr/>
        </p:nvSpPr>
        <p:spPr>
          <a:xfrm>
            <a:off x="710898" y="4920885"/>
            <a:ext cx="3158066" cy="369332"/>
          </a:xfrm>
          <a:prstGeom prst="rect">
            <a:avLst/>
          </a:prstGeom>
          <a:noFill/>
        </p:spPr>
        <p:txBody>
          <a:bodyPr wrap="square" rtlCol="0">
            <a:spAutoFit/>
          </a:bodyPr>
          <a:lstStyle/>
          <a:p>
            <a:r>
              <a:rPr lang="en-IN" dirty="0"/>
              <a:t>TP4056 charging module : </a:t>
            </a:r>
          </a:p>
        </p:txBody>
      </p:sp>
      <p:pic>
        <p:nvPicPr>
          <p:cNvPr id="17" name="Picture 16">
            <a:extLst>
              <a:ext uri="{FF2B5EF4-FFF2-40B4-BE49-F238E27FC236}">
                <a16:creationId xmlns:a16="http://schemas.microsoft.com/office/drawing/2014/main" id="{428C2E68-E0F4-D96D-3480-B6FE3858C5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4155" y="5384618"/>
            <a:ext cx="1267511" cy="1260226"/>
          </a:xfrm>
          <a:prstGeom prst="rect">
            <a:avLst/>
          </a:prstGeom>
        </p:spPr>
      </p:pic>
      <p:sp>
        <p:nvSpPr>
          <p:cNvPr id="18" name="TextBox 17">
            <a:extLst>
              <a:ext uri="{FF2B5EF4-FFF2-40B4-BE49-F238E27FC236}">
                <a16:creationId xmlns:a16="http://schemas.microsoft.com/office/drawing/2014/main" id="{CF01212A-9651-E1FF-E2FD-31D6AA563B9B}"/>
              </a:ext>
            </a:extLst>
          </p:cNvPr>
          <p:cNvSpPr txBox="1"/>
          <p:nvPr/>
        </p:nvSpPr>
        <p:spPr>
          <a:xfrm>
            <a:off x="4529667" y="5830065"/>
            <a:ext cx="6556603" cy="369332"/>
          </a:xfrm>
          <a:prstGeom prst="rect">
            <a:avLst/>
          </a:prstGeom>
          <a:noFill/>
        </p:spPr>
        <p:txBody>
          <a:bodyPr wrap="none" rtlCol="0">
            <a:spAutoFit/>
          </a:bodyPr>
          <a:lstStyle/>
          <a:p>
            <a:r>
              <a:rPr lang="en-IN" dirty="0"/>
              <a:t>Provides portable power supply with charging capability.</a:t>
            </a:r>
          </a:p>
        </p:txBody>
      </p:sp>
      <p:sp>
        <p:nvSpPr>
          <p:cNvPr id="10" name="TextBox 9">
            <a:extLst>
              <a:ext uri="{FF2B5EF4-FFF2-40B4-BE49-F238E27FC236}">
                <a16:creationId xmlns:a16="http://schemas.microsoft.com/office/drawing/2014/main" id="{58CF1AB6-A46E-50EB-302E-7F3DD315FE31}"/>
              </a:ext>
            </a:extLst>
          </p:cNvPr>
          <p:cNvSpPr txBox="1"/>
          <p:nvPr/>
        </p:nvSpPr>
        <p:spPr>
          <a:xfrm>
            <a:off x="732367" y="3346269"/>
            <a:ext cx="1651000" cy="338554"/>
          </a:xfrm>
          <a:prstGeom prst="rect">
            <a:avLst/>
          </a:prstGeom>
          <a:noFill/>
        </p:spPr>
        <p:txBody>
          <a:bodyPr wrap="square" rtlCol="0">
            <a:spAutoFit/>
          </a:bodyPr>
          <a:lstStyle/>
          <a:p>
            <a:r>
              <a:rPr lang="en-IN" sz="1600" dirty="0"/>
              <a:t>NEO‑6M GPS :</a:t>
            </a:r>
          </a:p>
        </p:txBody>
      </p:sp>
      <p:sp>
        <p:nvSpPr>
          <p:cNvPr id="5" name="Arrow: Right 4">
            <a:extLst>
              <a:ext uri="{FF2B5EF4-FFF2-40B4-BE49-F238E27FC236}">
                <a16:creationId xmlns:a16="http://schemas.microsoft.com/office/drawing/2014/main" id="{2F685950-E2BC-029F-2634-84006650848D}"/>
              </a:ext>
            </a:extLst>
          </p:cNvPr>
          <p:cNvSpPr/>
          <p:nvPr/>
        </p:nvSpPr>
        <p:spPr>
          <a:xfrm>
            <a:off x="3539067" y="2724608"/>
            <a:ext cx="432000" cy="72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8D5AA17B-EB7A-A4B9-DC5D-6DB7835798E4}"/>
              </a:ext>
            </a:extLst>
          </p:cNvPr>
          <p:cNvSpPr/>
          <p:nvPr/>
        </p:nvSpPr>
        <p:spPr>
          <a:xfrm>
            <a:off x="3428397" y="4133393"/>
            <a:ext cx="542670" cy="72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D907F54C-FB35-983D-CBE0-109F521FD134}"/>
              </a:ext>
            </a:extLst>
          </p:cNvPr>
          <p:cNvSpPr/>
          <p:nvPr/>
        </p:nvSpPr>
        <p:spPr>
          <a:xfrm>
            <a:off x="3285067" y="5965614"/>
            <a:ext cx="91440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25949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9F764-296B-F6EE-8DAB-D2B89BD7A229}"/>
              </a:ext>
            </a:extLst>
          </p:cNvPr>
          <p:cNvSpPr>
            <a:spLocks noGrp="1"/>
          </p:cNvSpPr>
          <p:nvPr>
            <p:ph type="title"/>
          </p:nvPr>
        </p:nvSpPr>
        <p:spPr>
          <a:xfrm>
            <a:off x="1593859" y="253064"/>
            <a:ext cx="3359142" cy="400357"/>
          </a:xfrm>
        </p:spPr>
        <p:txBody>
          <a:bodyPr>
            <a:normAutofit fontScale="90000"/>
          </a:bodyPr>
          <a:lstStyle/>
          <a:p>
            <a:r>
              <a:rPr lang="en-IN" sz="2000" dirty="0">
                <a:latin typeface="Times New Roman"/>
                <a:ea typeface="Times New Roman"/>
                <a:cs typeface="Times New Roman"/>
                <a:sym typeface="Times New Roman"/>
              </a:rPr>
              <a:t>Subsystem Explanation - II</a:t>
            </a:r>
            <a:endParaRPr lang="en-IN" sz="2000" dirty="0"/>
          </a:p>
        </p:txBody>
      </p:sp>
      <p:sp>
        <p:nvSpPr>
          <p:cNvPr id="4" name="TextBox 3">
            <a:extLst>
              <a:ext uri="{FF2B5EF4-FFF2-40B4-BE49-F238E27FC236}">
                <a16:creationId xmlns:a16="http://schemas.microsoft.com/office/drawing/2014/main" id="{03ECA5D4-61EE-3409-27AC-686281BD58D7}"/>
              </a:ext>
            </a:extLst>
          </p:cNvPr>
          <p:cNvSpPr txBox="1"/>
          <p:nvPr/>
        </p:nvSpPr>
        <p:spPr>
          <a:xfrm>
            <a:off x="926107" y="2127113"/>
            <a:ext cx="1786066" cy="307777"/>
          </a:xfrm>
          <a:prstGeom prst="rect">
            <a:avLst/>
          </a:prstGeom>
          <a:noFill/>
        </p:spPr>
        <p:txBody>
          <a:bodyPr wrap="none" rtlCol="0">
            <a:spAutoFit/>
          </a:bodyPr>
          <a:lstStyle/>
          <a:p>
            <a:r>
              <a:rPr lang="en-IN" sz="1400" dirty="0"/>
              <a:t>🖥️ Software Flow :</a:t>
            </a:r>
          </a:p>
        </p:txBody>
      </p:sp>
      <p:sp>
        <p:nvSpPr>
          <p:cNvPr id="6" name="TextBox 5">
            <a:extLst>
              <a:ext uri="{FF2B5EF4-FFF2-40B4-BE49-F238E27FC236}">
                <a16:creationId xmlns:a16="http://schemas.microsoft.com/office/drawing/2014/main" id="{AD7ECBE7-8D0C-3808-E342-34C7C963A36D}"/>
              </a:ext>
            </a:extLst>
          </p:cNvPr>
          <p:cNvSpPr txBox="1"/>
          <p:nvPr/>
        </p:nvSpPr>
        <p:spPr>
          <a:xfrm>
            <a:off x="1488350" y="2794000"/>
            <a:ext cx="9890849" cy="1384995"/>
          </a:xfrm>
          <a:prstGeom prst="rect">
            <a:avLst/>
          </a:prstGeom>
          <a:noFill/>
        </p:spPr>
        <p:txBody>
          <a:bodyPr wrap="none" rtlCol="0">
            <a:spAutoFit/>
          </a:bodyPr>
          <a:lstStyle/>
          <a:p>
            <a:pPr marL="285750" indent="-285750">
              <a:buFont typeface="Wingdings" panose="05000000000000000000" pitchFamily="2" charset="2"/>
              <a:buChar char="Ø"/>
            </a:pPr>
            <a:r>
              <a:rPr lang="en-IN" sz="1400" dirty="0"/>
              <a:t>The ESP32 first initializes communication protocols (I²C, ADC, 1‑Wire, GPIO, Wi‑Fi) and then collects raw signals</a:t>
            </a:r>
          </a:p>
          <a:p>
            <a:r>
              <a:rPr lang="en-IN" sz="1400" dirty="0"/>
              <a:t> from the heart rate, ECG, and temperature sensors. It processes these inputs by filtering noise, calculating</a:t>
            </a:r>
          </a:p>
          <a:p>
            <a:r>
              <a:rPr lang="en-IN" sz="1400" dirty="0"/>
              <a:t> BPM, extracting ECG waveforms, and reading temperature values. Based on thresholds, it decides </a:t>
            </a:r>
          </a:p>
          <a:p>
            <a:r>
              <a:rPr lang="en-IN" sz="1400" dirty="0"/>
              <a:t>whether to trigger alerts through the buzzer while showing live readings on the LCD. </a:t>
            </a:r>
          </a:p>
          <a:p>
            <a:r>
              <a:rPr lang="en-IN" sz="1400" dirty="0"/>
              <a:t>Finally, the ESP32 syncs data to cloud platforms like Firebase or MQTT, enabling doctors or caregivers</a:t>
            </a:r>
          </a:p>
          <a:p>
            <a:r>
              <a:rPr lang="en-IN" sz="1400" dirty="0"/>
              <a:t> to access patient information remotely in real time.</a:t>
            </a:r>
          </a:p>
        </p:txBody>
      </p:sp>
      <p:sp>
        <p:nvSpPr>
          <p:cNvPr id="7" name="TextBox 6">
            <a:extLst>
              <a:ext uri="{FF2B5EF4-FFF2-40B4-BE49-F238E27FC236}">
                <a16:creationId xmlns:a16="http://schemas.microsoft.com/office/drawing/2014/main" id="{95FE8CAB-35A1-4C73-A5E6-92F50E008633}"/>
              </a:ext>
            </a:extLst>
          </p:cNvPr>
          <p:cNvSpPr txBox="1"/>
          <p:nvPr/>
        </p:nvSpPr>
        <p:spPr>
          <a:xfrm>
            <a:off x="926107" y="4562045"/>
            <a:ext cx="1801819" cy="307777"/>
          </a:xfrm>
          <a:prstGeom prst="rect">
            <a:avLst/>
          </a:prstGeom>
          <a:noFill/>
        </p:spPr>
        <p:txBody>
          <a:bodyPr wrap="square" rtlCol="0">
            <a:spAutoFit/>
          </a:bodyPr>
          <a:lstStyle/>
          <a:p>
            <a:r>
              <a:rPr lang="en-IN" sz="1400" b="1" dirty="0">
                <a:latin typeface="Consolas" panose="020B0609020204030204" pitchFamily="49" charset="0"/>
              </a:rPr>
              <a:t>🔗 Integration :</a:t>
            </a:r>
          </a:p>
        </p:txBody>
      </p:sp>
      <p:sp>
        <p:nvSpPr>
          <p:cNvPr id="8" name="TextBox 7">
            <a:extLst>
              <a:ext uri="{FF2B5EF4-FFF2-40B4-BE49-F238E27FC236}">
                <a16:creationId xmlns:a16="http://schemas.microsoft.com/office/drawing/2014/main" id="{21DD893D-73EA-28E0-1975-FCE3BA016B34}"/>
              </a:ext>
            </a:extLst>
          </p:cNvPr>
          <p:cNvSpPr txBox="1"/>
          <p:nvPr/>
        </p:nvSpPr>
        <p:spPr>
          <a:xfrm>
            <a:off x="1400241" y="5204993"/>
            <a:ext cx="8652933" cy="1815882"/>
          </a:xfrm>
          <a:prstGeom prst="rect">
            <a:avLst/>
          </a:prstGeom>
          <a:noFill/>
        </p:spPr>
        <p:txBody>
          <a:bodyPr wrap="square" rtlCol="0">
            <a:spAutoFit/>
          </a:bodyPr>
          <a:lstStyle/>
          <a:p>
            <a:pPr marL="285750" indent="-285750">
              <a:buFont typeface="Wingdings" panose="05000000000000000000" pitchFamily="2" charset="2"/>
              <a:buChar char="Ø"/>
            </a:pPr>
            <a:r>
              <a:rPr lang="en-IN" sz="1400" b="1" dirty="0"/>
              <a:t>Sensors → ESP32</a:t>
            </a:r>
            <a:r>
              <a:rPr lang="en-IN" sz="1400" dirty="0"/>
              <a:t>: Connected through I²C, ADC, and 1‑Wire pins.</a:t>
            </a:r>
          </a:p>
          <a:p>
            <a:pPr marL="285750" indent="-285750">
              <a:buFont typeface="Wingdings" panose="05000000000000000000" pitchFamily="2" charset="2"/>
              <a:buChar char="Ø"/>
            </a:pPr>
            <a:endParaRPr lang="en-IN" sz="1400" dirty="0"/>
          </a:p>
          <a:p>
            <a:pPr marL="285750" indent="-285750">
              <a:buFont typeface="Wingdings" panose="05000000000000000000" pitchFamily="2" charset="2"/>
              <a:buChar char="Ø"/>
            </a:pPr>
            <a:r>
              <a:rPr lang="en-IN" sz="1400" b="1" dirty="0"/>
              <a:t>ESP32 → LCD/Buzzer</a:t>
            </a:r>
            <a:r>
              <a:rPr lang="en-IN" sz="1400" dirty="0"/>
              <a:t>: GPIO controls display and alerts.</a:t>
            </a:r>
          </a:p>
          <a:p>
            <a:pPr marL="285750" indent="-285750">
              <a:buFont typeface="Wingdings" panose="05000000000000000000" pitchFamily="2" charset="2"/>
              <a:buChar char="Ø"/>
            </a:pPr>
            <a:endParaRPr lang="en-IN" sz="1400" dirty="0"/>
          </a:p>
          <a:p>
            <a:pPr marL="285750" indent="-285750">
              <a:buFont typeface="Wingdings" panose="05000000000000000000" pitchFamily="2" charset="2"/>
              <a:buChar char="Ø"/>
            </a:pPr>
            <a:r>
              <a:rPr lang="en-IN" sz="1400" b="1" dirty="0"/>
              <a:t>ESP32 → Cloud</a:t>
            </a:r>
            <a:r>
              <a:rPr lang="en-IN" sz="1400" dirty="0"/>
              <a:t>: Wi‑Fi transmits processed data for remote monitoring.</a:t>
            </a:r>
          </a:p>
          <a:p>
            <a:pPr marL="285750" indent="-285750">
              <a:buFont typeface="Wingdings" panose="05000000000000000000" pitchFamily="2" charset="2"/>
              <a:buChar char="Ø"/>
            </a:pPr>
            <a:endParaRPr lang="en-IN" sz="1400" dirty="0"/>
          </a:p>
          <a:p>
            <a:pPr marL="285750" indent="-285750">
              <a:buFont typeface="Wingdings" panose="05000000000000000000" pitchFamily="2" charset="2"/>
              <a:buChar char="Ø"/>
            </a:pPr>
            <a:r>
              <a:rPr lang="en-IN" sz="1400" b="1" dirty="0"/>
              <a:t>Cloud → User</a:t>
            </a:r>
            <a:r>
              <a:rPr lang="en-IN" sz="1400" dirty="0"/>
              <a:t>: Dashboard or app provides visualization and notifications.</a:t>
            </a:r>
          </a:p>
          <a:p>
            <a:endParaRPr lang="en-IN" sz="1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0F630E5-FF60-6DA6-BF86-0EBBD81B2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7674" y="4064000"/>
            <a:ext cx="4191000" cy="2794000"/>
          </a:xfrm>
          <a:prstGeom prst="rect">
            <a:avLst/>
          </a:prstGeom>
        </p:spPr>
      </p:pic>
      <p:sp>
        <p:nvSpPr>
          <p:cNvPr id="3" name="TextBox 2">
            <a:extLst>
              <a:ext uri="{FF2B5EF4-FFF2-40B4-BE49-F238E27FC236}">
                <a16:creationId xmlns:a16="http://schemas.microsoft.com/office/drawing/2014/main" id="{802A461D-84A5-DDEF-02AB-A756D59FEF67}"/>
              </a:ext>
            </a:extLst>
          </p:cNvPr>
          <p:cNvSpPr txBox="1"/>
          <p:nvPr/>
        </p:nvSpPr>
        <p:spPr>
          <a:xfrm>
            <a:off x="3818467" y="1244600"/>
            <a:ext cx="3150221" cy="400110"/>
          </a:xfrm>
          <a:prstGeom prst="rect">
            <a:avLst/>
          </a:prstGeom>
          <a:noFill/>
        </p:spPr>
        <p:txBody>
          <a:bodyPr wrap="none" rtlCol="0">
            <a:spAutoFit/>
          </a:bodyPr>
          <a:lstStyle/>
          <a:p>
            <a:r>
              <a:rPr lang="en-IN" sz="2000" dirty="0">
                <a:solidFill>
                  <a:schemeClr val="bg1"/>
                </a:solidFill>
                <a:latin typeface="Times New Roman" panose="02020603050405020304" pitchFamily="18" charset="0"/>
                <a:cs typeface="Times New Roman" panose="02020603050405020304" pitchFamily="18" charset="0"/>
              </a:rPr>
              <a:t>Software Flow &amp; Integration</a:t>
            </a:r>
          </a:p>
        </p:txBody>
      </p:sp>
    </p:spTree>
    <p:extLst>
      <p:ext uri="{BB962C8B-B14F-4D97-AF65-F5344CB8AC3E}">
        <p14:creationId xmlns:p14="http://schemas.microsoft.com/office/powerpoint/2010/main" val="1056429376"/>
      </p:ext>
    </p:extLst>
  </p:cSld>
  <p:clrMapOvr>
    <a:masterClrMapping/>
  </p:clrMapOvr>
  <p:transition spd="slow">
    <p:comb/>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BA31-F5DB-435A-7121-577EEA163C89}"/>
              </a:ext>
            </a:extLst>
          </p:cNvPr>
          <p:cNvSpPr>
            <a:spLocks noGrp="1"/>
          </p:cNvSpPr>
          <p:nvPr>
            <p:ph type="title"/>
          </p:nvPr>
        </p:nvSpPr>
        <p:spPr>
          <a:xfrm>
            <a:off x="1291313" y="1087591"/>
            <a:ext cx="4790008" cy="438734"/>
          </a:xfrm>
        </p:spPr>
        <p:txBody>
          <a:bodyPr>
            <a:normAutofit fontScale="90000"/>
          </a:bodyPr>
          <a:lstStyle/>
          <a:p>
            <a:r>
              <a:rPr lang="en-IN" sz="2000" dirty="0">
                <a:latin typeface="Times New Roman"/>
                <a:ea typeface="Times New Roman"/>
                <a:cs typeface="Times New Roman"/>
                <a:sym typeface="Times New Roman"/>
              </a:rPr>
              <a:t>Hardware &amp; Software / Instrument Selection :</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E6317C-8524-776E-D536-73FB7EFE7D1B}"/>
              </a:ext>
            </a:extLst>
          </p:cNvPr>
          <p:cNvSpPr txBox="1"/>
          <p:nvPr/>
        </p:nvSpPr>
        <p:spPr>
          <a:xfrm>
            <a:off x="726155" y="1986847"/>
            <a:ext cx="3699932" cy="307777"/>
          </a:xfrm>
          <a:prstGeom prst="rect">
            <a:avLst/>
          </a:prstGeom>
          <a:noFill/>
        </p:spPr>
        <p:txBody>
          <a:bodyPr wrap="square" rtlCol="0">
            <a:spAutoFit/>
          </a:bodyPr>
          <a:lstStyle/>
          <a:p>
            <a:r>
              <a:rPr lang="en-IN" sz="1400" dirty="0"/>
              <a:t>⚙️ </a:t>
            </a:r>
            <a:r>
              <a:rPr lang="en-IN" sz="1400" b="1" dirty="0"/>
              <a:t>Hardware (Sensors &amp; Modules) </a:t>
            </a:r>
            <a:r>
              <a:rPr lang="en-IN" sz="1400" dirty="0"/>
              <a:t>:</a:t>
            </a: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7C6CC3C-8887-8D2F-6848-86CB43801E57}"/>
              </a:ext>
            </a:extLst>
          </p:cNvPr>
          <p:cNvSpPr txBox="1"/>
          <p:nvPr/>
        </p:nvSpPr>
        <p:spPr>
          <a:xfrm>
            <a:off x="2396068" y="2244061"/>
            <a:ext cx="3699932" cy="2062103"/>
          </a:xfrm>
          <a:prstGeom prst="rect">
            <a:avLst/>
          </a:prstGeom>
          <a:noFill/>
        </p:spPr>
        <p:txBody>
          <a:bodyPr wrap="square" rtlCol="0">
            <a:spAutoFit/>
          </a:bodyPr>
          <a:lstStyle/>
          <a:p>
            <a:pPr marL="285750" indent="-285750">
              <a:buFont typeface="Courier New" panose="02070309020205020404" pitchFamily="49" charset="0"/>
              <a:buChar char="o"/>
            </a:pPr>
            <a:r>
              <a:rPr lang="en-IN" sz="1600" b="1" dirty="0"/>
              <a:t>Heart Rate Sensor</a:t>
            </a:r>
            <a:r>
              <a:rPr lang="en-IN" sz="1600" dirty="0"/>
              <a:t> </a:t>
            </a:r>
          </a:p>
          <a:p>
            <a:pPr marL="285750" indent="-285750">
              <a:buFont typeface="Courier New" panose="02070309020205020404" pitchFamily="49" charset="0"/>
              <a:buChar char="o"/>
            </a:pPr>
            <a:r>
              <a:rPr lang="en-IN" sz="1600" b="1" dirty="0"/>
              <a:t>ECG Sensor Kit</a:t>
            </a:r>
            <a:r>
              <a:rPr lang="en-IN" sz="1600" dirty="0"/>
              <a:t> </a:t>
            </a:r>
          </a:p>
          <a:p>
            <a:pPr marL="285750" indent="-285750">
              <a:buFont typeface="Courier New" panose="02070309020205020404" pitchFamily="49" charset="0"/>
              <a:buChar char="o"/>
            </a:pPr>
            <a:r>
              <a:rPr lang="en-IN" sz="1600" b="1" dirty="0"/>
              <a:t>MLX90614 Temperature Sensor</a:t>
            </a:r>
            <a:r>
              <a:rPr lang="en-IN" sz="1600" dirty="0"/>
              <a:t> </a:t>
            </a:r>
          </a:p>
          <a:p>
            <a:pPr marL="285750" indent="-285750">
              <a:buFont typeface="Courier New" panose="02070309020205020404" pitchFamily="49" charset="0"/>
              <a:buChar char="o"/>
            </a:pPr>
            <a:r>
              <a:rPr lang="en-IN" sz="1600" b="1" dirty="0"/>
              <a:t>LCD 16x2 Display</a:t>
            </a:r>
            <a:r>
              <a:rPr lang="en-IN" sz="1600" dirty="0"/>
              <a:t> </a:t>
            </a:r>
          </a:p>
          <a:p>
            <a:pPr marL="285750" indent="-285750">
              <a:buFont typeface="Courier New" panose="02070309020205020404" pitchFamily="49" charset="0"/>
              <a:buChar char="o"/>
            </a:pPr>
            <a:r>
              <a:rPr lang="en-IN" sz="1600" b="1" dirty="0"/>
              <a:t>Buzzer Module</a:t>
            </a:r>
            <a:r>
              <a:rPr lang="en-IN" sz="1600" dirty="0"/>
              <a:t> </a:t>
            </a:r>
          </a:p>
          <a:p>
            <a:pPr marL="285750" indent="-285750">
              <a:buFont typeface="Courier New" panose="02070309020205020404" pitchFamily="49" charset="0"/>
              <a:buChar char="o"/>
            </a:pPr>
            <a:r>
              <a:rPr lang="en-IN" sz="1600" b="1" dirty="0"/>
              <a:t>ESP32 Development Board</a:t>
            </a:r>
            <a:r>
              <a:rPr lang="en-IN" sz="1600" dirty="0"/>
              <a:t> </a:t>
            </a:r>
          </a:p>
          <a:p>
            <a:pPr marL="285750" indent="-285750">
              <a:buFont typeface="Courier New" panose="02070309020205020404" pitchFamily="49" charset="0"/>
              <a:buChar char="o"/>
            </a:pPr>
            <a:r>
              <a:rPr lang="en-IN" sz="1600" b="1" dirty="0"/>
              <a:t>Power Supply Module</a:t>
            </a:r>
            <a:r>
              <a:rPr lang="en-IN" sz="1600" dirty="0"/>
              <a:t> </a:t>
            </a:r>
          </a:p>
          <a:p>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DB763DC-E62C-3348-1E3D-593A5F6223F7}"/>
              </a:ext>
            </a:extLst>
          </p:cNvPr>
          <p:cNvSpPr txBox="1"/>
          <p:nvPr/>
        </p:nvSpPr>
        <p:spPr>
          <a:xfrm>
            <a:off x="6304498" y="4622108"/>
            <a:ext cx="1348446" cy="307777"/>
          </a:xfrm>
          <a:prstGeom prst="rect">
            <a:avLst/>
          </a:prstGeom>
          <a:noFill/>
        </p:spPr>
        <p:txBody>
          <a:bodyPr wrap="none" rtlCol="0">
            <a:spAutoFit/>
          </a:bodyPr>
          <a:lstStyle/>
          <a:p>
            <a:r>
              <a:rPr lang="en-IN" sz="1400" dirty="0">
                <a:solidFill>
                  <a:schemeClr val="bg1"/>
                </a:solidFill>
              </a:rPr>
              <a:t>💻 </a:t>
            </a:r>
            <a:r>
              <a:rPr lang="en-IN" sz="1400" b="1" dirty="0"/>
              <a:t>Software</a:t>
            </a:r>
            <a:r>
              <a:rPr lang="en-IN" sz="1400" dirty="0">
                <a:solidFill>
                  <a:schemeClr val="bg1"/>
                </a:solidFill>
              </a:rPr>
              <a:t> </a:t>
            </a:r>
            <a:r>
              <a:rPr lang="en-IN" sz="1400" dirty="0"/>
              <a:t>:</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A83FDAA-65AD-3CC1-0036-778401F32487}"/>
              </a:ext>
            </a:extLst>
          </p:cNvPr>
          <p:cNvSpPr txBox="1"/>
          <p:nvPr/>
        </p:nvSpPr>
        <p:spPr>
          <a:xfrm>
            <a:off x="5790366" y="5339844"/>
            <a:ext cx="6181500" cy="1384995"/>
          </a:xfrm>
          <a:prstGeom prst="rect">
            <a:avLst/>
          </a:prstGeom>
          <a:noFill/>
        </p:spPr>
        <p:txBody>
          <a:bodyPr wrap="none" rtlCol="0">
            <a:spAutoFit/>
          </a:bodyPr>
          <a:lstStyle/>
          <a:p>
            <a:pPr marL="285750" indent="-285750">
              <a:buFont typeface="Arial" panose="020B0604020202020204" pitchFamily="34" charset="0"/>
              <a:buChar char="•"/>
            </a:pPr>
            <a:r>
              <a:rPr lang="en-IN" sz="1400" b="1" dirty="0"/>
              <a:t>    </a:t>
            </a:r>
            <a:r>
              <a:rPr lang="en-IN" sz="1400" b="1" dirty="0" err="1"/>
              <a:t>PlatformIO</a:t>
            </a:r>
            <a:r>
              <a:rPr lang="en-IN" sz="1400" dirty="0"/>
              <a:t> – coding and uploading firmware.</a:t>
            </a:r>
          </a:p>
          <a:p>
            <a:pPr marL="285750" indent="-285750">
              <a:buFont typeface="Arial" panose="020B0604020202020204" pitchFamily="34" charset="0"/>
              <a:buChar char="•"/>
            </a:pPr>
            <a:r>
              <a:rPr lang="en-IN" sz="1400" b="1" dirty="0"/>
              <a:t>Libraries</a:t>
            </a:r>
            <a:r>
              <a:rPr lang="en-IN" sz="1400" dirty="0"/>
              <a:t> – Pulse sensor, ECG (AD8232), MLX90614 (</a:t>
            </a:r>
            <a:r>
              <a:rPr lang="en-IN" sz="1400" dirty="0" err="1"/>
              <a:t>OneWire</a:t>
            </a:r>
            <a:r>
              <a:rPr lang="en-IN" sz="1400" dirty="0"/>
              <a:t>).</a:t>
            </a:r>
          </a:p>
          <a:p>
            <a:pPr marL="285750" indent="-285750">
              <a:buFont typeface="Arial" panose="020B0604020202020204" pitchFamily="34" charset="0"/>
              <a:buChar char="•"/>
            </a:pPr>
            <a:r>
              <a:rPr lang="en-IN" sz="1400" b="1" dirty="0"/>
              <a:t>Cloud Platforms</a:t>
            </a:r>
            <a:r>
              <a:rPr lang="en-IN" sz="1400" dirty="0"/>
              <a:t> – Firebase, </a:t>
            </a:r>
            <a:r>
              <a:rPr lang="en-IN" sz="1400" dirty="0" err="1"/>
              <a:t>Thingspeak</a:t>
            </a:r>
            <a:r>
              <a:rPr lang="en-IN" sz="1400" dirty="0"/>
              <a:t>, or MQTT broker for remote</a:t>
            </a:r>
          </a:p>
          <a:p>
            <a:r>
              <a:rPr lang="en-IN" sz="1400" dirty="0"/>
              <a:t>        monitoring.</a:t>
            </a:r>
          </a:p>
          <a:p>
            <a:endParaRPr lang="en-IN" sz="1400" dirty="0"/>
          </a:p>
          <a:p>
            <a:endParaRPr lang="en-IN" sz="1400" dirty="0"/>
          </a:p>
        </p:txBody>
      </p:sp>
      <p:sp>
        <p:nvSpPr>
          <p:cNvPr id="8" name="TextBox 7">
            <a:extLst>
              <a:ext uri="{FF2B5EF4-FFF2-40B4-BE49-F238E27FC236}">
                <a16:creationId xmlns:a16="http://schemas.microsoft.com/office/drawing/2014/main" id="{F3B6C09B-5205-0A8B-83EC-F26373C5D3C0}"/>
              </a:ext>
            </a:extLst>
          </p:cNvPr>
          <p:cNvSpPr txBox="1"/>
          <p:nvPr/>
        </p:nvSpPr>
        <p:spPr>
          <a:xfrm>
            <a:off x="1104297" y="4255600"/>
            <a:ext cx="1994457" cy="307777"/>
          </a:xfrm>
          <a:prstGeom prst="rect">
            <a:avLst/>
          </a:prstGeom>
          <a:noFill/>
        </p:spPr>
        <p:txBody>
          <a:bodyPr wrap="none" rtlCol="0">
            <a:spAutoFit/>
          </a:bodyPr>
          <a:lstStyle/>
          <a:p>
            <a:r>
              <a:rPr lang="en-IN" sz="1400" dirty="0"/>
              <a:t>📡 </a:t>
            </a:r>
            <a:r>
              <a:rPr lang="en-IN" sz="1400" b="1" dirty="0"/>
              <a:t>Communication :</a:t>
            </a:r>
          </a:p>
        </p:txBody>
      </p:sp>
      <p:sp>
        <p:nvSpPr>
          <p:cNvPr id="9" name="TextBox 8">
            <a:extLst>
              <a:ext uri="{FF2B5EF4-FFF2-40B4-BE49-F238E27FC236}">
                <a16:creationId xmlns:a16="http://schemas.microsoft.com/office/drawing/2014/main" id="{2C682B3C-21B1-D0B3-132E-44729772263F}"/>
              </a:ext>
            </a:extLst>
          </p:cNvPr>
          <p:cNvSpPr txBox="1"/>
          <p:nvPr/>
        </p:nvSpPr>
        <p:spPr>
          <a:xfrm>
            <a:off x="1608874" y="4622108"/>
            <a:ext cx="4487126" cy="1384995"/>
          </a:xfrm>
          <a:prstGeom prst="rect">
            <a:avLst/>
          </a:prstGeom>
          <a:noFill/>
        </p:spPr>
        <p:txBody>
          <a:bodyPr wrap="none" rtlCol="0">
            <a:spAutoFit/>
          </a:bodyPr>
          <a:lstStyle/>
          <a:p>
            <a:pPr marL="285750" indent="-285750">
              <a:buFont typeface="Arial" panose="020B0604020202020204" pitchFamily="34" charset="0"/>
              <a:buChar char="•"/>
            </a:pPr>
            <a:r>
              <a:rPr lang="en-IN" sz="1400" b="1" dirty="0"/>
              <a:t>I²C</a:t>
            </a:r>
            <a:r>
              <a:rPr lang="en-IN" sz="1400" dirty="0"/>
              <a:t> – LCD, heart rate sensor.</a:t>
            </a:r>
          </a:p>
          <a:p>
            <a:pPr marL="285750" indent="-285750">
              <a:buFont typeface="Arial" panose="020B0604020202020204" pitchFamily="34" charset="0"/>
              <a:buChar char="•"/>
            </a:pPr>
            <a:r>
              <a:rPr lang="en-IN" sz="1400" b="1" dirty="0"/>
              <a:t>ADC (Analog Input)</a:t>
            </a:r>
            <a:r>
              <a:rPr lang="en-IN" sz="1400" dirty="0"/>
              <a:t> – ECG signals.</a:t>
            </a:r>
          </a:p>
          <a:p>
            <a:pPr marL="285750" indent="-285750">
              <a:buFont typeface="Arial" panose="020B0604020202020204" pitchFamily="34" charset="0"/>
              <a:buChar char="•"/>
            </a:pPr>
            <a:r>
              <a:rPr lang="en-IN" sz="1400" b="1" dirty="0"/>
              <a:t>1‑Wire</a:t>
            </a:r>
            <a:r>
              <a:rPr lang="en-IN" sz="1400" dirty="0"/>
              <a:t> – MLX90614 temperature sensor.</a:t>
            </a:r>
          </a:p>
          <a:p>
            <a:pPr marL="285750" indent="-285750">
              <a:buFont typeface="Arial" panose="020B0604020202020204" pitchFamily="34" charset="0"/>
              <a:buChar char="•"/>
            </a:pPr>
            <a:r>
              <a:rPr lang="en-IN" sz="1400" b="1" dirty="0"/>
              <a:t>GPIO</a:t>
            </a:r>
            <a:r>
              <a:rPr lang="en-IN" sz="1400" dirty="0"/>
              <a:t> – buzzer control.</a:t>
            </a:r>
          </a:p>
          <a:p>
            <a:pPr marL="285750" indent="-285750">
              <a:buFont typeface="Arial" panose="020B0604020202020204" pitchFamily="34" charset="0"/>
              <a:buChar char="•"/>
            </a:pPr>
            <a:r>
              <a:rPr lang="en-IN" sz="1400" b="1" dirty="0"/>
              <a:t>Wi‑Fi (ESP32)</a:t>
            </a:r>
            <a:r>
              <a:rPr lang="en-IN" sz="1400" dirty="0"/>
              <a:t> – cloud sync and remote access.</a:t>
            </a:r>
          </a:p>
          <a:p>
            <a:endParaRPr lang="en-IN" sz="1400" dirty="0"/>
          </a:p>
        </p:txBody>
      </p:sp>
    </p:spTree>
    <p:extLst>
      <p:ext uri="{BB962C8B-B14F-4D97-AF65-F5344CB8AC3E}">
        <p14:creationId xmlns:p14="http://schemas.microsoft.com/office/powerpoint/2010/main" val="32866843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BC08FF-343A-840C-32A8-79F22DA2C182}"/>
              </a:ext>
            </a:extLst>
          </p:cNvPr>
          <p:cNvSpPr>
            <a:spLocks noGrp="1"/>
          </p:cNvSpPr>
          <p:nvPr>
            <p:ph idx="1"/>
          </p:nvPr>
        </p:nvSpPr>
        <p:spPr>
          <a:xfrm>
            <a:off x="826726" y="2620762"/>
            <a:ext cx="4117808" cy="3678303"/>
          </a:xfrm>
        </p:spPr>
        <p:txBody>
          <a:bodyPr>
            <a:noAutofit/>
          </a:bodyPr>
          <a:lstStyle/>
          <a:p>
            <a:pPr>
              <a:buFont typeface="Wingdings" panose="05000000000000000000" pitchFamily="2" charset="2"/>
              <a:buChar char="v"/>
            </a:pPr>
            <a:r>
              <a:rPr lang="en-IN" sz="1600" b="1" dirty="0"/>
              <a:t>📋 BOM :</a:t>
            </a:r>
          </a:p>
          <a:p>
            <a:endParaRPr lang="en-IN" sz="1600" b="1" dirty="0"/>
          </a:p>
          <a:p>
            <a:r>
              <a:rPr lang="en-IN" sz="1600" dirty="0"/>
              <a:t>ESP32 ×1</a:t>
            </a:r>
          </a:p>
          <a:p>
            <a:r>
              <a:rPr lang="en-IN" sz="1600" dirty="0"/>
              <a:t>Heart rate sensor ×1</a:t>
            </a:r>
          </a:p>
          <a:p>
            <a:r>
              <a:rPr lang="en-IN" sz="1600" dirty="0"/>
              <a:t>ECG kit ×1</a:t>
            </a:r>
          </a:p>
          <a:p>
            <a:r>
              <a:rPr lang="en-IN" sz="1600" dirty="0"/>
              <a:t>MLX90614 (standard + waterproof) ×2</a:t>
            </a:r>
          </a:p>
          <a:p>
            <a:r>
              <a:rPr lang="en-IN" sz="1600" dirty="0"/>
              <a:t>LCD 16x2 ×1</a:t>
            </a:r>
          </a:p>
          <a:p>
            <a:r>
              <a:rPr lang="en-IN" sz="1600" dirty="0"/>
              <a:t>Buzzer ×1</a:t>
            </a:r>
          </a:p>
          <a:p>
            <a:r>
              <a:rPr lang="en-IN" sz="1600" dirty="0"/>
              <a:t>Power supply ×1</a:t>
            </a:r>
          </a:p>
          <a:p>
            <a:r>
              <a:rPr lang="en-IN" sz="1600" dirty="0"/>
              <a:t>Jumper wires, breadboard, connectors</a:t>
            </a:r>
          </a:p>
          <a:p>
            <a:endParaRPr lang="en-IN" sz="1600" dirty="0"/>
          </a:p>
          <a:p>
            <a:endParaRPr lang="en-IN" sz="1600" dirty="0"/>
          </a:p>
          <a:p>
            <a:endParaRPr lang="en-IN" sz="1600" dirty="0"/>
          </a:p>
        </p:txBody>
      </p:sp>
      <p:sp>
        <p:nvSpPr>
          <p:cNvPr id="4" name="TextBox 3">
            <a:extLst>
              <a:ext uri="{FF2B5EF4-FFF2-40B4-BE49-F238E27FC236}">
                <a16:creationId xmlns:a16="http://schemas.microsoft.com/office/drawing/2014/main" id="{4EFC7DF9-4C15-459E-699D-CD700C9D8474}"/>
              </a:ext>
            </a:extLst>
          </p:cNvPr>
          <p:cNvSpPr txBox="1"/>
          <p:nvPr/>
        </p:nvSpPr>
        <p:spPr>
          <a:xfrm>
            <a:off x="5283200" y="3175000"/>
            <a:ext cx="5296643" cy="2062103"/>
          </a:xfrm>
          <a:prstGeom prst="rect">
            <a:avLst/>
          </a:prstGeom>
          <a:noFill/>
        </p:spPr>
        <p:txBody>
          <a:bodyPr wrap="none" rtlCol="0">
            <a:spAutoFit/>
          </a:bodyPr>
          <a:lstStyle/>
          <a:p>
            <a:r>
              <a:rPr lang="en-IN" sz="1600" b="1" dirty="0"/>
              <a:t>🚀 PoC Plan :</a:t>
            </a:r>
          </a:p>
          <a:p>
            <a:endParaRPr lang="en-IN" sz="1600" b="1" dirty="0"/>
          </a:p>
          <a:p>
            <a:r>
              <a:rPr lang="en-IN" sz="1600" b="1" dirty="0"/>
              <a:t>Setup</a:t>
            </a:r>
            <a:r>
              <a:rPr lang="en-IN" sz="1600" dirty="0"/>
              <a:t> – Connect sensors, LCD, buzzer to ESP32 + power.</a:t>
            </a:r>
          </a:p>
          <a:p>
            <a:r>
              <a:rPr lang="en-IN" sz="1600" b="1" dirty="0"/>
              <a:t>Firmware</a:t>
            </a:r>
            <a:r>
              <a:rPr lang="en-IN" sz="1600" dirty="0"/>
              <a:t> – Write ESP32  code for data &amp; cloud sync.</a:t>
            </a:r>
          </a:p>
          <a:p>
            <a:r>
              <a:rPr lang="en-IN" sz="1600" b="1" dirty="0"/>
              <a:t>Testing</a:t>
            </a:r>
            <a:r>
              <a:rPr lang="en-IN" sz="1600" dirty="0"/>
              <a:t> – Check sensor outputs, LCD display, buzzer alerts.</a:t>
            </a:r>
          </a:p>
          <a:p>
            <a:r>
              <a:rPr lang="en-IN" sz="1600" b="1" dirty="0"/>
              <a:t>Cloud</a:t>
            </a:r>
            <a:r>
              <a:rPr lang="en-IN" sz="1600" dirty="0"/>
              <a:t> – Send data to Firebase/Thing speak, build dashboard.</a:t>
            </a:r>
          </a:p>
          <a:p>
            <a:r>
              <a:rPr lang="en-IN" sz="1600" b="1" dirty="0"/>
              <a:t>Validation</a:t>
            </a:r>
            <a:r>
              <a:rPr lang="en-IN" sz="1600" dirty="0"/>
              <a:t> – Verify remote monitoring with sample inputs.</a:t>
            </a:r>
          </a:p>
          <a:p>
            <a:endParaRPr lang="en-IN" sz="1600" dirty="0"/>
          </a:p>
        </p:txBody>
      </p:sp>
    </p:spTree>
    <p:extLst>
      <p:ext uri="{BB962C8B-B14F-4D97-AF65-F5344CB8AC3E}">
        <p14:creationId xmlns:p14="http://schemas.microsoft.com/office/powerpoint/2010/main" val="227158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7F292-7ED2-5AD4-15E9-9C9AB417E86F}"/>
              </a:ext>
            </a:extLst>
          </p:cNvPr>
          <p:cNvSpPr>
            <a:spLocks noGrp="1"/>
          </p:cNvSpPr>
          <p:nvPr>
            <p:ph type="title"/>
          </p:nvPr>
        </p:nvSpPr>
        <p:spPr/>
        <p:txBody>
          <a:bodyPr/>
          <a:lstStyle/>
          <a:p>
            <a:r>
              <a:rPr lang="en-US" b="1" cap="none" dirty="0">
                <a:latin typeface="Times New Roman" panose="02020603050405020304" pitchFamily="18" charset="0"/>
                <a:ea typeface="Unbounded Bold" pitchFamily="34" charset="-122"/>
                <a:cs typeface="Times New Roman" panose="02020603050405020304" pitchFamily="18" charset="0"/>
              </a:rPr>
              <a:t>ESP32 </a:t>
            </a:r>
            <a:r>
              <a:rPr lang="en-US" b="1" dirty="0" err="1">
                <a:latin typeface="Times New Roman" panose="02020603050405020304" pitchFamily="18" charset="0"/>
                <a:ea typeface="Unbounded Bold" pitchFamily="34" charset="-122"/>
                <a:cs typeface="Times New Roman" panose="02020603050405020304" pitchFamily="18" charset="0"/>
              </a:rPr>
              <a:t>DevKit</a:t>
            </a:r>
            <a:r>
              <a:rPr lang="en-US" b="1" dirty="0">
                <a:latin typeface="Times New Roman" panose="02020603050405020304" pitchFamily="18" charset="0"/>
                <a:ea typeface="Unbounded Bold" pitchFamily="34" charset="-122"/>
                <a:cs typeface="Times New Roman" panose="02020603050405020304" pitchFamily="18" charset="0"/>
              </a:rPr>
              <a:t> — MCU &amp; Wireless Gateway</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CCC100D-F3BF-0A57-16C7-9468808197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534" y="2528721"/>
            <a:ext cx="3718409" cy="2791702"/>
          </a:xfrm>
          <a:prstGeom prst="rect">
            <a:avLst/>
          </a:prstGeom>
        </p:spPr>
      </p:pic>
      <p:sp>
        <p:nvSpPr>
          <p:cNvPr id="6" name="TextBox 5">
            <a:extLst>
              <a:ext uri="{FF2B5EF4-FFF2-40B4-BE49-F238E27FC236}">
                <a16:creationId xmlns:a16="http://schemas.microsoft.com/office/drawing/2014/main" id="{86B2B7A8-A705-71EC-9D58-702E67DD7BA1}"/>
              </a:ext>
            </a:extLst>
          </p:cNvPr>
          <p:cNvSpPr txBox="1"/>
          <p:nvPr/>
        </p:nvSpPr>
        <p:spPr>
          <a:xfrm>
            <a:off x="4222055" y="2902038"/>
            <a:ext cx="8021748" cy="3139321"/>
          </a:xfrm>
          <a:prstGeom prst="rect">
            <a:avLst/>
          </a:prstGeom>
          <a:noFill/>
        </p:spPr>
        <p:txBody>
          <a:bodyPr wrap="none" rtlCol="0">
            <a:spAutoFit/>
          </a:bodyPr>
          <a:lstStyle/>
          <a:p>
            <a:r>
              <a:rPr lang="en-IN" b="1" dirty="0"/>
              <a:t>Working principle:</a:t>
            </a:r>
            <a:r>
              <a:rPr lang="en-IN" dirty="0"/>
              <a:t> </a:t>
            </a:r>
          </a:p>
          <a:p>
            <a:endParaRPr lang="en-IN" dirty="0"/>
          </a:p>
          <a:p>
            <a:r>
              <a:rPr lang="en-IN" dirty="0"/>
              <a:t>Xtensa dual-core LX6 (240MHz) runs firmware, manages sensor data, </a:t>
            </a:r>
          </a:p>
          <a:p>
            <a:r>
              <a:rPr lang="en-IN" dirty="0"/>
              <a:t>and provides Wi‑Fi/BLE connectivity to transmit telemetry to cloud or mobile apps.</a:t>
            </a:r>
          </a:p>
          <a:p>
            <a:endParaRPr lang="en-IN" dirty="0"/>
          </a:p>
          <a:p>
            <a:r>
              <a:rPr lang="en-IN" b="1" dirty="0"/>
              <a:t>Description &amp; interface:</a:t>
            </a:r>
            <a:r>
              <a:rPr lang="en-IN" dirty="0"/>
              <a:t> </a:t>
            </a:r>
          </a:p>
          <a:p>
            <a:endParaRPr lang="en-IN" dirty="0"/>
          </a:p>
          <a:p>
            <a:endParaRPr lang="en-IN" dirty="0"/>
          </a:p>
          <a:p>
            <a:r>
              <a:rPr lang="en-IN" dirty="0" err="1"/>
              <a:t>NodeMCU</a:t>
            </a:r>
            <a:r>
              <a:rPr lang="en-IN" dirty="0"/>
              <a:t>-style </a:t>
            </a:r>
            <a:r>
              <a:rPr lang="en-IN" dirty="0" err="1"/>
              <a:t>DevKit</a:t>
            </a:r>
            <a:r>
              <a:rPr lang="en-IN" dirty="0"/>
              <a:t> (30/38-pin). Interfaces: I²C, UART, ADC. Logic 3.3V; </a:t>
            </a:r>
          </a:p>
          <a:p>
            <a:r>
              <a:rPr lang="en-IN" dirty="0"/>
              <a:t>USB 5V input.</a:t>
            </a:r>
          </a:p>
          <a:p>
            <a:endParaRPr lang="en-IN" dirty="0"/>
          </a:p>
        </p:txBody>
      </p:sp>
    </p:spTree>
    <p:extLst>
      <p:ext uri="{BB962C8B-B14F-4D97-AF65-F5344CB8AC3E}">
        <p14:creationId xmlns:p14="http://schemas.microsoft.com/office/powerpoint/2010/main" val="3120877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9B4E-FCA6-08A1-6C86-1CF8658ECBBA}"/>
              </a:ext>
            </a:extLst>
          </p:cNvPr>
          <p:cNvSpPr>
            <a:spLocks noGrp="1"/>
          </p:cNvSpPr>
          <p:nvPr>
            <p:ph type="title"/>
          </p:nvPr>
        </p:nvSpPr>
        <p:spPr/>
        <p:txBody>
          <a:bodyPr/>
          <a:lstStyle/>
          <a:p>
            <a:r>
              <a:rPr lang="en-IN" dirty="0"/>
              <a:t>❤️MAX30102 Optical Oximeter — Pulse &amp; SpO₂</a:t>
            </a:r>
          </a:p>
        </p:txBody>
      </p:sp>
      <p:pic>
        <p:nvPicPr>
          <p:cNvPr id="5" name="Content Placeholder 4">
            <a:extLst>
              <a:ext uri="{FF2B5EF4-FFF2-40B4-BE49-F238E27FC236}">
                <a16:creationId xmlns:a16="http://schemas.microsoft.com/office/drawing/2014/main" id="{D27865FA-86D5-36B4-264D-873EDD9471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888" y="2912411"/>
            <a:ext cx="2336902" cy="2229634"/>
          </a:xfrm>
          <a:prstGeom prst="rect">
            <a:avLst/>
          </a:prstGeom>
        </p:spPr>
      </p:pic>
      <p:sp>
        <p:nvSpPr>
          <p:cNvPr id="6" name="TextBox 5">
            <a:extLst>
              <a:ext uri="{FF2B5EF4-FFF2-40B4-BE49-F238E27FC236}">
                <a16:creationId xmlns:a16="http://schemas.microsoft.com/office/drawing/2014/main" id="{292C5665-794E-DE17-FC37-3161E7814A41}"/>
              </a:ext>
            </a:extLst>
          </p:cNvPr>
          <p:cNvSpPr txBox="1"/>
          <p:nvPr/>
        </p:nvSpPr>
        <p:spPr>
          <a:xfrm>
            <a:off x="3202038" y="3628300"/>
            <a:ext cx="8989962" cy="2585323"/>
          </a:xfrm>
          <a:prstGeom prst="rect">
            <a:avLst/>
          </a:prstGeom>
          <a:noFill/>
        </p:spPr>
        <p:txBody>
          <a:bodyPr wrap="none" rtlCol="0">
            <a:spAutoFit/>
          </a:bodyPr>
          <a:lstStyle/>
          <a:p>
            <a:r>
              <a:rPr lang="en-IN" b="1" dirty="0"/>
              <a:t>Working principle:</a:t>
            </a:r>
          </a:p>
          <a:p>
            <a:endParaRPr lang="en-IN" b="1" dirty="0"/>
          </a:p>
          <a:p>
            <a:r>
              <a:rPr lang="en-IN" dirty="0"/>
              <a:t> Red (660nm) and IR (880nm) LEDs with photodiode measure light absorption through tissue;</a:t>
            </a:r>
          </a:p>
          <a:p>
            <a:r>
              <a:rPr lang="en-IN" dirty="0"/>
              <a:t> algorithm derives pulse rate and SpO₂ from AC/DC ratios.</a:t>
            </a:r>
          </a:p>
          <a:p>
            <a:r>
              <a:rPr lang="en-IN" b="1" dirty="0"/>
              <a:t>Description &amp; interface:</a:t>
            </a:r>
            <a:r>
              <a:rPr lang="en-IN" dirty="0"/>
              <a:t> </a:t>
            </a:r>
          </a:p>
          <a:p>
            <a:endParaRPr lang="en-IN" dirty="0"/>
          </a:p>
          <a:p>
            <a:r>
              <a:rPr lang="en-IN" dirty="0"/>
              <a:t>I²C device (0x57), 18‑bit ADC, 3.3V rail. Small, low‑power optical sensor for continuous </a:t>
            </a:r>
          </a:p>
          <a:p>
            <a:r>
              <a:rPr lang="en-IN" dirty="0"/>
              <a:t>monitoring.</a:t>
            </a:r>
          </a:p>
          <a:p>
            <a:endParaRPr lang="en-IN" dirty="0"/>
          </a:p>
        </p:txBody>
      </p:sp>
    </p:spTree>
    <p:extLst>
      <p:ext uri="{BB962C8B-B14F-4D97-AF65-F5344CB8AC3E}">
        <p14:creationId xmlns:p14="http://schemas.microsoft.com/office/powerpoint/2010/main" val="1225878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A436-9D88-5659-5F81-34588653862E}"/>
              </a:ext>
            </a:extLst>
          </p:cNvPr>
          <p:cNvSpPr>
            <a:spLocks noGrp="1"/>
          </p:cNvSpPr>
          <p:nvPr>
            <p:ph type="title"/>
          </p:nvPr>
        </p:nvSpPr>
        <p:spPr/>
        <p:txBody>
          <a:bodyPr/>
          <a:lstStyle/>
          <a:p>
            <a:r>
              <a:rPr lang="en-IN" dirty="0"/>
              <a:t>⚡ AD8232 Module — 3‑Lead ECG</a:t>
            </a:r>
          </a:p>
        </p:txBody>
      </p:sp>
      <p:pic>
        <p:nvPicPr>
          <p:cNvPr id="5" name="Content Placeholder 4">
            <a:extLst>
              <a:ext uri="{FF2B5EF4-FFF2-40B4-BE49-F238E27FC236}">
                <a16:creationId xmlns:a16="http://schemas.microsoft.com/office/drawing/2014/main" id="{EE247295-2C86-8CD8-7E25-041ADD396D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192" y="2446003"/>
            <a:ext cx="2361541" cy="1965993"/>
          </a:xfrm>
          <a:prstGeom prst="rect">
            <a:avLst/>
          </a:prstGeom>
        </p:spPr>
      </p:pic>
      <p:sp>
        <p:nvSpPr>
          <p:cNvPr id="6" name="TextBox 5">
            <a:extLst>
              <a:ext uri="{FF2B5EF4-FFF2-40B4-BE49-F238E27FC236}">
                <a16:creationId xmlns:a16="http://schemas.microsoft.com/office/drawing/2014/main" id="{DB956BE6-3F76-FDC0-DD45-DC4A9DAC2201}"/>
              </a:ext>
            </a:extLst>
          </p:cNvPr>
          <p:cNvSpPr txBox="1"/>
          <p:nvPr/>
        </p:nvSpPr>
        <p:spPr>
          <a:xfrm>
            <a:off x="2691772" y="4678516"/>
            <a:ext cx="9281708" cy="1477328"/>
          </a:xfrm>
          <a:prstGeom prst="rect">
            <a:avLst/>
          </a:prstGeom>
          <a:noFill/>
        </p:spPr>
        <p:txBody>
          <a:bodyPr wrap="none" rtlCol="0">
            <a:spAutoFit/>
          </a:bodyPr>
          <a:lstStyle/>
          <a:p>
            <a:r>
              <a:rPr lang="en-IN" b="1" dirty="0"/>
              <a:t>Working principle:</a:t>
            </a:r>
            <a:r>
              <a:rPr lang="en-IN" dirty="0"/>
              <a:t> </a:t>
            </a:r>
          </a:p>
          <a:p>
            <a:endParaRPr lang="en-IN" dirty="0"/>
          </a:p>
          <a:p>
            <a:r>
              <a:rPr lang="en-IN" dirty="0"/>
              <a:t>Instrumentation amplifier (gain≈100) conditions small biopotential signals from electrodes; </a:t>
            </a:r>
          </a:p>
          <a:p>
            <a:r>
              <a:rPr lang="en-IN" dirty="0"/>
              <a:t>outputs </a:t>
            </a:r>
            <a:r>
              <a:rPr lang="en-IN" dirty="0" err="1"/>
              <a:t>analog</a:t>
            </a:r>
            <a:r>
              <a:rPr lang="en-IN" dirty="0"/>
              <a:t> ECG waveform for ADC sampling.</a:t>
            </a:r>
          </a:p>
          <a:p>
            <a:r>
              <a:rPr lang="en-IN" dirty="0"/>
              <a:t> Analog output to ADC1 (GPIO34) to avoid ADC2/Wi‑Fi conflicts. Leads‑off detect; 3.3V supply.</a:t>
            </a:r>
          </a:p>
        </p:txBody>
      </p:sp>
    </p:spTree>
    <p:extLst>
      <p:ext uri="{BB962C8B-B14F-4D97-AF65-F5344CB8AC3E}">
        <p14:creationId xmlns:p14="http://schemas.microsoft.com/office/powerpoint/2010/main" val="3015707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8379B-4F9A-2352-BC0F-404C7BF592FE}"/>
              </a:ext>
            </a:extLst>
          </p:cNvPr>
          <p:cNvSpPr>
            <a:spLocks noGrp="1"/>
          </p:cNvSpPr>
          <p:nvPr>
            <p:ph type="title"/>
          </p:nvPr>
        </p:nvSpPr>
        <p:spPr/>
        <p:txBody>
          <a:bodyPr/>
          <a:lstStyle/>
          <a:p>
            <a:r>
              <a:rPr lang="en-IN" dirty="0"/>
              <a:t>🌡️MLX90614 &amp; MPU6050 — Temperature &amp; Motion</a:t>
            </a:r>
          </a:p>
        </p:txBody>
      </p:sp>
      <p:pic>
        <p:nvPicPr>
          <p:cNvPr id="5" name="Content Placeholder 4">
            <a:extLst>
              <a:ext uri="{FF2B5EF4-FFF2-40B4-BE49-F238E27FC236}">
                <a16:creationId xmlns:a16="http://schemas.microsoft.com/office/drawing/2014/main" id="{179254D2-D4CE-EC68-C90D-07F96CE09F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6080" y="2207053"/>
            <a:ext cx="1923309" cy="1789213"/>
          </a:xfrm>
          <a:prstGeom prst="rect">
            <a:avLst/>
          </a:prstGeom>
        </p:spPr>
      </p:pic>
      <p:sp>
        <p:nvSpPr>
          <p:cNvPr id="6" name="TextBox 5">
            <a:extLst>
              <a:ext uri="{FF2B5EF4-FFF2-40B4-BE49-F238E27FC236}">
                <a16:creationId xmlns:a16="http://schemas.microsoft.com/office/drawing/2014/main" id="{839DCBB4-F372-5F0A-D084-92DEAEEE4D14}"/>
              </a:ext>
            </a:extLst>
          </p:cNvPr>
          <p:cNvSpPr txBox="1"/>
          <p:nvPr/>
        </p:nvSpPr>
        <p:spPr>
          <a:xfrm>
            <a:off x="3683000" y="2782669"/>
            <a:ext cx="8358378" cy="646331"/>
          </a:xfrm>
          <a:prstGeom prst="rect">
            <a:avLst/>
          </a:prstGeom>
          <a:noFill/>
        </p:spPr>
        <p:txBody>
          <a:bodyPr wrap="none" rtlCol="0">
            <a:spAutoFit/>
          </a:bodyPr>
          <a:lstStyle/>
          <a:p>
            <a:r>
              <a:rPr lang="en-IN" b="1" dirty="0"/>
              <a:t>MLX90614 — Infrared Temperature:</a:t>
            </a:r>
            <a:r>
              <a:rPr lang="en-IN" dirty="0"/>
              <a:t> Non‑contact IR pyrometer with ±0.2°C </a:t>
            </a:r>
          </a:p>
          <a:p>
            <a:r>
              <a:rPr lang="en-IN" dirty="0"/>
              <a:t>medical accuracy; reads surface temperature over I²C (0x5A). Optimal 2–5cm distance.</a:t>
            </a:r>
          </a:p>
        </p:txBody>
      </p:sp>
      <p:pic>
        <p:nvPicPr>
          <p:cNvPr id="8" name="Picture 7">
            <a:extLst>
              <a:ext uri="{FF2B5EF4-FFF2-40B4-BE49-F238E27FC236}">
                <a16:creationId xmlns:a16="http://schemas.microsoft.com/office/drawing/2014/main" id="{7ADF79CE-C304-88D3-511F-E9D23DBCE8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388" y="4962195"/>
            <a:ext cx="1403091" cy="1633180"/>
          </a:xfrm>
          <a:prstGeom prst="rect">
            <a:avLst/>
          </a:prstGeom>
        </p:spPr>
      </p:pic>
      <p:sp>
        <p:nvSpPr>
          <p:cNvPr id="9" name="TextBox 8">
            <a:extLst>
              <a:ext uri="{FF2B5EF4-FFF2-40B4-BE49-F238E27FC236}">
                <a16:creationId xmlns:a16="http://schemas.microsoft.com/office/drawing/2014/main" id="{CC2FDB6B-1066-50F2-5747-3B39EF1CD20D}"/>
              </a:ext>
            </a:extLst>
          </p:cNvPr>
          <p:cNvSpPr txBox="1"/>
          <p:nvPr/>
        </p:nvSpPr>
        <p:spPr>
          <a:xfrm>
            <a:off x="3605833" y="5455619"/>
            <a:ext cx="8701421" cy="646331"/>
          </a:xfrm>
          <a:prstGeom prst="rect">
            <a:avLst/>
          </a:prstGeom>
          <a:noFill/>
        </p:spPr>
        <p:txBody>
          <a:bodyPr wrap="none" rtlCol="0">
            <a:spAutoFit/>
          </a:bodyPr>
          <a:lstStyle/>
          <a:p>
            <a:r>
              <a:rPr lang="en-IN" b="1" dirty="0"/>
              <a:t>MPU6050 — 6‑DOF IMU:</a:t>
            </a:r>
            <a:r>
              <a:rPr lang="en-IN" dirty="0"/>
              <a:t> 3‑axis accel + 3‑axis gyro with DMP for fall/impact detection;</a:t>
            </a:r>
          </a:p>
          <a:p>
            <a:r>
              <a:rPr lang="en-IN" dirty="0"/>
              <a:t> communicates via I²C (0x68).</a:t>
            </a:r>
          </a:p>
        </p:txBody>
      </p:sp>
    </p:spTree>
    <p:extLst>
      <p:ext uri="{BB962C8B-B14F-4D97-AF65-F5344CB8AC3E}">
        <p14:creationId xmlns:p14="http://schemas.microsoft.com/office/powerpoint/2010/main" val="3647944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4AFE2-C9E6-1DA1-F6EA-7C0373F75B29}"/>
              </a:ext>
            </a:extLst>
          </p:cNvPr>
          <p:cNvSpPr>
            <a:spLocks noGrp="1"/>
          </p:cNvSpPr>
          <p:nvPr>
            <p:ph type="title"/>
          </p:nvPr>
        </p:nvSpPr>
        <p:spPr/>
        <p:txBody>
          <a:bodyPr/>
          <a:lstStyle/>
          <a:p>
            <a:r>
              <a:rPr lang="en-IN" dirty="0"/>
              <a:t>NEO‑6M GPS &amp; 16×2 LCD — Location &amp; Display</a:t>
            </a:r>
          </a:p>
        </p:txBody>
      </p:sp>
      <p:pic>
        <p:nvPicPr>
          <p:cNvPr id="5" name="Content Placeholder 4">
            <a:extLst>
              <a:ext uri="{FF2B5EF4-FFF2-40B4-BE49-F238E27FC236}">
                <a16:creationId xmlns:a16="http://schemas.microsoft.com/office/drawing/2014/main" id="{293E0123-B358-BC34-15A4-0C9FFD5BF36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452" t="12891" r="6161" b="12149"/>
          <a:stretch>
            <a:fillRect/>
          </a:stretch>
        </p:blipFill>
        <p:spPr>
          <a:xfrm>
            <a:off x="1007533" y="2282701"/>
            <a:ext cx="2184401" cy="1906099"/>
          </a:xfrm>
          <a:prstGeom prst="rect">
            <a:avLst/>
          </a:prstGeom>
        </p:spPr>
      </p:pic>
      <p:pic>
        <p:nvPicPr>
          <p:cNvPr id="7" name="Picture 6">
            <a:extLst>
              <a:ext uri="{FF2B5EF4-FFF2-40B4-BE49-F238E27FC236}">
                <a16:creationId xmlns:a16="http://schemas.microsoft.com/office/drawing/2014/main" id="{65757F36-E6F0-7EBB-1A2F-F5CC78B5BD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3801" y="3948245"/>
            <a:ext cx="2387600" cy="2387600"/>
          </a:xfrm>
          <a:prstGeom prst="rect">
            <a:avLst/>
          </a:prstGeom>
        </p:spPr>
      </p:pic>
      <p:sp>
        <p:nvSpPr>
          <p:cNvPr id="8" name="TextBox 7">
            <a:extLst>
              <a:ext uri="{FF2B5EF4-FFF2-40B4-BE49-F238E27FC236}">
                <a16:creationId xmlns:a16="http://schemas.microsoft.com/office/drawing/2014/main" id="{64157630-D1A4-C45D-223B-DF000DBDCE7B}"/>
              </a:ext>
            </a:extLst>
          </p:cNvPr>
          <p:cNvSpPr txBox="1"/>
          <p:nvPr/>
        </p:nvSpPr>
        <p:spPr>
          <a:xfrm>
            <a:off x="4494106" y="2655583"/>
            <a:ext cx="7520007" cy="2862322"/>
          </a:xfrm>
          <a:prstGeom prst="rect">
            <a:avLst/>
          </a:prstGeom>
          <a:noFill/>
        </p:spPr>
        <p:txBody>
          <a:bodyPr wrap="none" rtlCol="0">
            <a:spAutoFit/>
          </a:bodyPr>
          <a:lstStyle/>
          <a:p>
            <a:r>
              <a:rPr lang="en-IN" b="1" dirty="0"/>
              <a:t>NEO‑6M — Location Tracking:</a:t>
            </a:r>
            <a:r>
              <a:rPr lang="en-IN" dirty="0"/>
              <a:t> </a:t>
            </a:r>
          </a:p>
          <a:p>
            <a:endParaRPr lang="en-IN" dirty="0"/>
          </a:p>
          <a:p>
            <a:r>
              <a:rPr lang="en-IN" dirty="0"/>
              <a:t>UART2 serial (GPIO16 RX2 / GPIO17 TX2) at</a:t>
            </a:r>
          </a:p>
          <a:p>
            <a:r>
              <a:rPr lang="en-IN" dirty="0"/>
              <a:t> 9600 baud outputs NMEA‑0183 strings for geolocation and time. 50 channels.</a:t>
            </a:r>
          </a:p>
          <a:p>
            <a:r>
              <a:rPr lang="en-IN" dirty="0"/>
              <a:t> </a:t>
            </a:r>
          </a:p>
          <a:p>
            <a:r>
              <a:rPr lang="en-IN" b="1" dirty="0"/>
              <a:t>16×2 LCD + I²C:</a:t>
            </a:r>
            <a:r>
              <a:rPr lang="en-IN" dirty="0"/>
              <a:t> </a:t>
            </a:r>
          </a:p>
          <a:p>
            <a:endParaRPr lang="en-IN" dirty="0"/>
          </a:p>
          <a:p>
            <a:r>
              <a:rPr lang="en-IN" dirty="0"/>
              <a:t>PCF8574 backpack provides I²C (0x27/0x3F) interface to </a:t>
            </a:r>
          </a:p>
          <a:p>
            <a:r>
              <a:rPr lang="en-IN" dirty="0"/>
              <a:t>display vitals locally; powered with 5V VIN for contrast.</a:t>
            </a:r>
          </a:p>
          <a:p>
            <a:endParaRPr lang="en-IN" dirty="0"/>
          </a:p>
        </p:txBody>
      </p:sp>
    </p:spTree>
    <p:extLst>
      <p:ext uri="{BB962C8B-B14F-4D97-AF65-F5344CB8AC3E}">
        <p14:creationId xmlns:p14="http://schemas.microsoft.com/office/powerpoint/2010/main" val="1970245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0B43C-C50F-D73B-6402-CD2666A63DDC}"/>
              </a:ext>
            </a:extLst>
          </p:cNvPr>
          <p:cNvSpPr>
            <a:spLocks noGrp="1"/>
          </p:cNvSpPr>
          <p:nvPr>
            <p:ph type="title"/>
          </p:nvPr>
        </p:nvSpPr>
        <p:spPr/>
        <p:txBody>
          <a:bodyPr/>
          <a:lstStyle/>
          <a:p>
            <a:r>
              <a:rPr lang="en-IN" dirty="0"/>
              <a:t>Buzzer, LEDs, Battery</a:t>
            </a:r>
          </a:p>
        </p:txBody>
      </p:sp>
      <p:sp>
        <p:nvSpPr>
          <p:cNvPr id="3" name="Content Placeholder 2">
            <a:extLst>
              <a:ext uri="{FF2B5EF4-FFF2-40B4-BE49-F238E27FC236}">
                <a16:creationId xmlns:a16="http://schemas.microsoft.com/office/drawing/2014/main" id="{2FAEA234-4314-5EFF-3708-1257FD5E25CC}"/>
              </a:ext>
            </a:extLst>
          </p:cNvPr>
          <p:cNvSpPr>
            <a:spLocks noGrp="1"/>
          </p:cNvSpPr>
          <p:nvPr>
            <p:ph idx="1"/>
          </p:nvPr>
        </p:nvSpPr>
        <p:spPr>
          <a:xfrm>
            <a:off x="4907659" y="1960363"/>
            <a:ext cx="5286208" cy="3873171"/>
          </a:xfrm>
        </p:spPr>
        <p:txBody>
          <a:bodyPr/>
          <a:lstStyle/>
          <a:p>
            <a:r>
              <a:rPr lang="en-IN" b="1" dirty="0"/>
              <a:t>Buzzer &amp; LEDs:</a:t>
            </a:r>
            <a:r>
              <a:rPr lang="en-IN" dirty="0"/>
              <a:t> </a:t>
            </a:r>
          </a:p>
          <a:p>
            <a:pPr marL="0" indent="0">
              <a:buNone/>
            </a:pPr>
            <a:r>
              <a:rPr lang="en-IN" dirty="0"/>
              <a:t>    Digital GPIO drives 5V active buzzer (~20mA) and                            visual LEDs (with resistors) for immediate local alerts. </a:t>
            </a:r>
          </a:p>
          <a:p>
            <a:r>
              <a:rPr lang="en-IN" b="1" dirty="0"/>
              <a:t>Battery + TP4056:</a:t>
            </a:r>
            <a:r>
              <a:rPr lang="en-IN" dirty="0"/>
              <a:t> </a:t>
            </a:r>
          </a:p>
          <a:p>
            <a:pPr marL="0" indent="0">
              <a:buNone/>
            </a:pPr>
            <a:r>
              <a:rPr lang="en-IN" dirty="0"/>
              <a:t>  3.7V 18650 Li‑ion (2200–2600mAh) with TP4056 charger and DW01A protection for portable operation. Micro‑USB/Type‑C charging.</a:t>
            </a:r>
          </a:p>
          <a:p>
            <a:endParaRPr lang="en-IN" dirty="0"/>
          </a:p>
        </p:txBody>
      </p:sp>
      <p:pic>
        <p:nvPicPr>
          <p:cNvPr id="5" name="Picture 4">
            <a:extLst>
              <a:ext uri="{FF2B5EF4-FFF2-40B4-BE49-F238E27FC236}">
                <a16:creationId xmlns:a16="http://schemas.microsoft.com/office/drawing/2014/main" id="{1303BBFF-D3BA-8488-7BB4-F90EBF39F2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307" y="2585626"/>
            <a:ext cx="1685560" cy="1928436"/>
          </a:xfrm>
          <a:prstGeom prst="rect">
            <a:avLst/>
          </a:prstGeom>
        </p:spPr>
      </p:pic>
      <p:pic>
        <p:nvPicPr>
          <p:cNvPr id="7" name="Picture 6">
            <a:extLst>
              <a:ext uri="{FF2B5EF4-FFF2-40B4-BE49-F238E27FC236}">
                <a16:creationId xmlns:a16="http://schemas.microsoft.com/office/drawing/2014/main" id="{065D0539-5512-1C5B-967A-B6B47FBA27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3733" y="4617341"/>
            <a:ext cx="2240659" cy="2240659"/>
          </a:xfrm>
          <a:prstGeom prst="rect">
            <a:avLst/>
          </a:prstGeom>
        </p:spPr>
      </p:pic>
      <p:sp>
        <p:nvSpPr>
          <p:cNvPr id="8" name="TextBox 7">
            <a:extLst>
              <a:ext uri="{FF2B5EF4-FFF2-40B4-BE49-F238E27FC236}">
                <a16:creationId xmlns:a16="http://schemas.microsoft.com/office/drawing/2014/main" id="{05B5F4F7-F330-9E9A-EEF3-AA2823D87A5F}"/>
              </a:ext>
            </a:extLst>
          </p:cNvPr>
          <p:cNvSpPr txBox="1"/>
          <p:nvPr/>
        </p:nvSpPr>
        <p:spPr>
          <a:xfrm>
            <a:off x="2794000" y="4690533"/>
            <a:ext cx="1008609" cy="369332"/>
          </a:xfrm>
          <a:prstGeom prst="rect">
            <a:avLst/>
          </a:prstGeom>
          <a:noFill/>
        </p:spPr>
        <p:txBody>
          <a:bodyPr wrap="none" rtlCol="0">
            <a:spAutoFit/>
          </a:bodyPr>
          <a:lstStyle/>
          <a:p>
            <a:r>
              <a:rPr lang="en-IN" b="1" dirty="0"/>
              <a:t>TP4056</a:t>
            </a:r>
            <a:endParaRPr lang="en-IN" dirty="0"/>
          </a:p>
        </p:txBody>
      </p:sp>
      <p:sp>
        <p:nvSpPr>
          <p:cNvPr id="9" name="TextBox 8">
            <a:extLst>
              <a:ext uri="{FF2B5EF4-FFF2-40B4-BE49-F238E27FC236}">
                <a16:creationId xmlns:a16="http://schemas.microsoft.com/office/drawing/2014/main" id="{F110DD1C-BE75-6A02-701E-48808E8DC5E8}"/>
              </a:ext>
            </a:extLst>
          </p:cNvPr>
          <p:cNvSpPr txBox="1"/>
          <p:nvPr/>
        </p:nvSpPr>
        <p:spPr>
          <a:xfrm>
            <a:off x="1820333" y="1995032"/>
            <a:ext cx="2135521" cy="369332"/>
          </a:xfrm>
          <a:prstGeom prst="rect">
            <a:avLst/>
          </a:prstGeom>
          <a:noFill/>
        </p:spPr>
        <p:txBody>
          <a:bodyPr wrap="none" rtlCol="0">
            <a:spAutoFit/>
          </a:bodyPr>
          <a:lstStyle/>
          <a:p>
            <a:r>
              <a:rPr lang="en-IN" b="1" dirty="0"/>
              <a:t>Buzzer &amp;  Battery</a:t>
            </a:r>
            <a:endParaRPr lang="en-IN" dirty="0"/>
          </a:p>
        </p:txBody>
      </p:sp>
      <p:pic>
        <p:nvPicPr>
          <p:cNvPr id="11" name="Picture 10">
            <a:extLst>
              <a:ext uri="{FF2B5EF4-FFF2-40B4-BE49-F238E27FC236}">
                <a16:creationId xmlns:a16="http://schemas.microsoft.com/office/drawing/2014/main" id="{B77A7EAE-9585-B3BE-5555-EB7AFD33C0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8100" y="5279300"/>
            <a:ext cx="1578700" cy="1578700"/>
          </a:xfrm>
          <a:prstGeom prst="rect">
            <a:avLst/>
          </a:prstGeom>
        </p:spPr>
      </p:pic>
      <p:sp>
        <p:nvSpPr>
          <p:cNvPr id="12" name="TextBox 11">
            <a:extLst>
              <a:ext uri="{FF2B5EF4-FFF2-40B4-BE49-F238E27FC236}">
                <a16:creationId xmlns:a16="http://schemas.microsoft.com/office/drawing/2014/main" id="{1382AAF7-D4C5-9035-2DEF-E73DD3DDF377}"/>
              </a:ext>
            </a:extLst>
          </p:cNvPr>
          <p:cNvSpPr txBox="1"/>
          <p:nvPr/>
        </p:nvSpPr>
        <p:spPr>
          <a:xfrm>
            <a:off x="6561667" y="5279300"/>
            <a:ext cx="587020" cy="369332"/>
          </a:xfrm>
          <a:prstGeom prst="rect">
            <a:avLst/>
          </a:prstGeom>
          <a:noFill/>
        </p:spPr>
        <p:txBody>
          <a:bodyPr wrap="none" rtlCol="0">
            <a:spAutoFit/>
          </a:bodyPr>
          <a:lstStyle/>
          <a:p>
            <a:r>
              <a:rPr lang="en-IN" dirty="0"/>
              <a:t>LED</a:t>
            </a:r>
          </a:p>
        </p:txBody>
      </p:sp>
    </p:spTree>
    <p:extLst>
      <p:ext uri="{BB962C8B-B14F-4D97-AF65-F5344CB8AC3E}">
        <p14:creationId xmlns:p14="http://schemas.microsoft.com/office/powerpoint/2010/main" val="737844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9C732-5924-CAD2-944C-D2433A3856F9}"/>
              </a:ext>
            </a:extLst>
          </p:cNvPr>
          <p:cNvSpPr>
            <a:spLocks noGrp="1"/>
          </p:cNvSpPr>
          <p:nvPr>
            <p:ph type="title"/>
          </p:nvPr>
        </p:nvSpPr>
        <p:spPr/>
        <p:txBody>
          <a:bodyPr/>
          <a:lstStyle/>
          <a:p>
            <a:r>
              <a:rPr lang="en-IN" dirty="0"/>
              <a:t>Prototyping &amp; Accessories — Wiring, Electrodes.</a:t>
            </a:r>
          </a:p>
        </p:txBody>
      </p:sp>
      <p:pic>
        <p:nvPicPr>
          <p:cNvPr id="5" name="Content Placeholder 4">
            <a:extLst>
              <a:ext uri="{FF2B5EF4-FFF2-40B4-BE49-F238E27FC236}">
                <a16:creationId xmlns:a16="http://schemas.microsoft.com/office/drawing/2014/main" id="{6EBC78FF-7929-10F0-FC29-BB4FAFBA1B8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444"/>
          <a:stretch>
            <a:fillRect/>
          </a:stretch>
        </p:blipFill>
        <p:spPr>
          <a:xfrm>
            <a:off x="668675" y="3085362"/>
            <a:ext cx="5062294" cy="2621171"/>
          </a:xfrm>
          <a:prstGeom prst="rect">
            <a:avLst/>
          </a:prstGeom>
        </p:spPr>
      </p:pic>
      <p:sp>
        <p:nvSpPr>
          <p:cNvPr id="6" name="TextBox 5">
            <a:extLst>
              <a:ext uri="{FF2B5EF4-FFF2-40B4-BE49-F238E27FC236}">
                <a16:creationId xmlns:a16="http://schemas.microsoft.com/office/drawing/2014/main" id="{D73AFC42-4BF2-113A-F2A8-6D219273F25C}"/>
              </a:ext>
            </a:extLst>
          </p:cNvPr>
          <p:cNvSpPr txBox="1"/>
          <p:nvPr/>
        </p:nvSpPr>
        <p:spPr>
          <a:xfrm>
            <a:off x="5956115" y="2336614"/>
            <a:ext cx="2449838" cy="369332"/>
          </a:xfrm>
          <a:prstGeom prst="rect">
            <a:avLst/>
          </a:prstGeom>
          <a:noFill/>
        </p:spPr>
        <p:txBody>
          <a:bodyPr wrap="none" rtlCol="0">
            <a:spAutoFit/>
          </a:bodyPr>
          <a:lstStyle/>
          <a:p>
            <a:r>
              <a:rPr lang="en-IN" b="1" dirty="0"/>
              <a:t>Breadboard &amp; Wires:</a:t>
            </a:r>
          </a:p>
        </p:txBody>
      </p:sp>
      <p:sp>
        <p:nvSpPr>
          <p:cNvPr id="7" name="TextBox 6">
            <a:extLst>
              <a:ext uri="{FF2B5EF4-FFF2-40B4-BE49-F238E27FC236}">
                <a16:creationId xmlns:a16="http://schemas.microsoft.com/office/drawing/2014/main" id="{F59A1F74-0372-83DE-E917-9746C59F1520}"/>
              </a:ext>
            </a:extLst>
          </p:cNvPr>
          <p:cNvSpPr txBox="1"/>
          <p:nvPr/>
        </p:nvSpPr>
        <p:spPr>
          <a:xfrm>
            <a:off x="6333858" y="3268296"/>
            <a:ext cx="5858142" cy="646331"/>
          </a:xfrm>
          <a:prstGeom prst="rect">
            <a:avLst/>
          </a:prstGeom>
          <a:noFill/>
        </p:spPr>
        <p:txBody>
          <a:bodyPr wrap="none" rtlCol="0">
            <a:spAutoFit/>
          </a:bodyPr>
          <a:lstStyle/>
          <a:p>
            <a:r>
              <a:rPr lang="en-IN" dirty="0"/>
              <a:t>Solderless 830‑point breadboard and jumper wires for rapid </a:t>
            </a:r>
          </a:p>
          <a:p>
            <a:r>
              <a:rPr lang="en-IN" dirty="0"/>
              <a:t>prototyping.</a:t>
            </a:r>
          </a:p>
        </p:txBody>
      </p:sp>
      <p:sp>
        <p:nvSpPr>
          <p:cNvPr id="8" name="TextBox 7">
            <a:extLst>
              <a:ext uri="{FF2B5EF4-FFF2-40B4-BE49-F238E27FC236}">
                <a16:creationId xmlns:a16="http://schemas.microsoft.com/office/drawing/2014/main" id="{F4C7AFFB-4089-1F25-1F27-36CFB34FA5F6}"/>
              </a:ext>
            </a:extLst>
          </p:cNvPr>
          <p:cNvSpPr txBox="1"/>
          <p:nvPr/>
        </p:nvSpPr>
        <p:spPr>
          <a:xfrm>
            <a:off x="5956115" y="4258286"/>
            <a:ext cx="2233753" cy="369332"/>
          </a:xfrm>
          <a:prstGeom prst="rect">
            <a:avLst/>
          </a:prstGeom>
          <a:noFill/>
        </p:spPr>
        <p:txBody>
          <a:bodyPr wrap="none" rtlCol="0">
            <a:spAutoFit/>
          </a:bodyPr>
          <a:lstStyle/>
          <a:p>
            <a:r>
              <a:rPr lang="en-IN" b="1" dirty="0"/>
              <a:t>Electrodes &amp; Misc.:</a:t>
            </a:r>
            <a:endParaRPr lang="en-IN" dirty="0"/>
          </a:p>
        </p:txBody>
      </p:sp>
      <p:sp>
        <p:nvSpPr>
          <p:cNvPr id="9" name="TextBox 8">
            <a:extLst>
              <a:ext uri="{FF2B5EF4-FFF2-40B4-BE49-F238E27FC236}">
                <a16:creationId xmlns:a16="http://schemas.microsoft.com/office/drawing/2014/main" id="{AAD7FE79-2D1D-4AC9-7818-F0E4438241FF}"/>
              </a:ext>
            </a:extLst>
          </p:cNvPr>
          <p:cNvSpPr txBox="1"/>
          <p:nvPr/>
        </p:nvSpPr>
        <p:spPr>
          <a:xfrm>
            <a:off x="6461033" y="4846309"/>
            <a:ext cx="5365251" cy="646331"/>
          </a:xfrm>
          <a:prstGeom prst="rect">
            <a:avLst/>
          </a:prstGeom>
          <a:noFill/>
        </p:spPr>
        <p:txBody>
          <a:bodyPr wrap="none" rtlCol="0">
            <a:spAutoFit/>
          </a:bodyPr>
          <a:lstStyle/>
          <a:p>
            <a:r>
              <a:rPr lang="en-IN" dirty="0"/>
              <a:t>Ag/AgCl gel pads, 3‑lead snap connector and cables for </a:t>
            </a:r>
          </a:p>
          <a:p>
            <a:r>
              <a:rPr lang="en-IN" dirty="0"/>
              <a:t>ECG acquisition.</a:t>
            </a:r>
          </a:p>
        </p:txBody>
      </p:sp>
    </p:spTree>
    <p:extLst>
      <p:ext uri="{BB962C8B-B14F-4D97-AF65-F5344CB8AC3E}">
        <p14:creationId xmlns:p14="http://schemas.microsoft.com/office/powerpoint/2010/main" val="704033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A973B0-9446-E1E5-D355-7919C22C6F35}"/>
              </a:ext>
            </a:extLst>
          </p:cNvPr>
          <p:cNvSpPr>
            <a:spLocks noGrp="1"/>
          </p:cNvSpPr>
          <p:nvPr>
            <p:ph idx="1"/>
          </p:nvPr>
        </p:nvSpPr>
        <p:spPr>
          <a:xfrm>
            <a:off x="1386946" y="3285067"/>
            <a:ext cx="10026122" cy="2048932"/>
          </a:xfrm>
        </p:spPr>
        <p:txBody>
          <a:bodyPr/>
          <a:lstStyle/>
          <a:p>
            <a:pPr marL="0" indent="0">
              <a:buNone/>
            </a:pPr>
            <a:endParaRPr lang="en-IN" sz="1600" dirty="0"/>
          </a:p>
          <a:p>
            <a:r>
              <a:rPr lang="en-IN" sz="1600" dirty="0"/>
              <a:t>The REAL TIME PATIENT HEALTH MONITORING USING ESP32 combines IoT, AI, and cloud technology to monitor patient health in real time. It enables early detection of health issues, provides instant alerts, and supports remote healthcare. This low-cost and scalable solution improves patient care and has strong potential for future enhancements such as wearable devices and advanced AI-based disease prediction.</a:t>
            </a:r>
          </a:p>
          <a:p>
            <a:endParaRPr lang="en-IN" sz="1600" b="1" dirty="0"/>
          </a:p>
        </p:txBody>
      </p:sp>
      <p:sp>
        <p:nvSpPr>
          <p:cNvPr id="4" name="TextBox 3">
            <a:extLst>
              <a:ext uri="{FF2B5EF4-FFF2-40B4-BE49-F238E27FC236}">
                <a16:creationId xmlns:a16="http://schemas.microsoft.com/office/drawing/2014/main" id="{27B1AAFE-9165-93ED-4AB8-671EC5211BDF}"/>
              </a:ext>
            </a:extLst>
          </p:cNvPr>
          <p:cNvSpPr txBox="1"/>
          <p:nvPr/>
        </p:nvSpPr>
        <p:spPr>
          <a:xfrm>
            <a:off x="3081866" y="1041399"/>
            <a:ext cx="1579278" cy="400110"/>
          </a:xfrm>
          <a:prstGeom prst="rect">
            <a:avLst/>
          </a:prstGeom>
          <a:noFill/>
        </p:spPr>
        <p:txBody>
          <a:bodyPr wrap="none" rtlCol="0">
            <a:spAutoFit/>
          </a:bodyPr>
          <a:lstStyle/>
          <a:p>
            <a:r>
              <a:rPr lang="en-IN" sz="2000" b="1" dirty="0">
                <a:solidFill>
                  <a:schemeClr val="bg1"/>
                </a:solidFill>
              </a:rPr>
              <a:t>Conclusion </a:t>
            </a:r>
          </a:p>
        </p:txBody>
      </p:sp>
    </p:spTree>
    <p:extLst>
      <p:ext uri="{BB962C8B-B14F-4D97-AF65-F5344CB8AC3E}">
        <p14:creationId xmlns:p14="http://schemas.microsoft.com/office/powerpoint/2010/main" val="26775758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C2F3578-EFCA-A77A-FC6B-B48C44F3840B}"/>
              </a:ext>
            </a:extLst>
          </p:cNvPr>
          <p:cNvSpPr/>
          <p:nvPr/>
        </p:nvSpPr>
        <p:spPr>
          <a:xfrm>
            <a:off x="3359579" y="3894667"/>
            <a:ext cx="4880182" cy="1015663"/>
          </a:xfrm>
          <a:prstGeom prst="rect">
            <a:avLst/>
          </a:prstGeom>
          <a:noFill/>
        </p:spPr>
        <p:txBody>
          <a:bodyPr wrap="none" lIns="91440" tIns="45720" rIns="91440" bIns="45720">
            <a:spAutoFit/>
          </a:bodyPr>
          <a:lstStyle/>
          <a:p>
            <a:pPr algn="ctr"/>
            <a:r>
              <a:rPr lang="en-IN" sz="6000" b="1" dirty="0">
                <a:ln w="13462">
                  <a:solidFill>
                    <a:schemeClr val="bg1"/>
                  </a:solidFill>
                  <a:prstDash val="solid"/>
                </a:ln>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a:t>
            </a:r>
            <a:r>
              <a:rPr lang="en-IN"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 </a:t>
            </a:r>
            <a:r>
              <a:rPr lang="en-IN" sz="6000" b="1" dirty="0">
                <a:ln w="13462">
                  <a:solidFill>
                    <a:schemeClr val="bg1"/>
                  </a:solidFill>
                  <a:prstDash val="solid"/>
                </a:ln>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YOU</a:t>
            </a:r>
            <a:endParaRPr lang="en-IN" sz="6000" b="1" cap="none" spc="0" dirty="0">
              <a:ln w="13462">
                <a:solidFill>
                  <a:schemeClr val="bg1"/>
                </a:solidFill>
                <a:prstDash val="solid"/>
              </a:ln>
              <a:solidFill>
                <a:schemeClr val="tx1">
                  <a:lumMod val="85000"/>
                  <a:lumOff val="1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6460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974</TotalTime>
  <Words>1635</Words>
  <Application>Microsoft Office PowerPoint</Application>
  <PresentationFormat>Widescreen</PresentationFormat>
  <Paragraphs>251</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Arial</vt:lpstr>
      <vt:lpstr>Consolas</vt:lpstr>
      <vt:lpstr>Courier New</vt:lpstr>
      <vt:lpstr>Gill Sans MT</vt:lpstr>
      <vt:lpstr>Helvetica Neue</vt:lpstr>
      <vt:lpstr>Times New Roman</vt:lpstr>
      <vt:lpstr>Wingdings</vt:lpstr>
      <vt:lpstr>Wingdings 2</vt:lpstr>
      <vt:lpstr>Dividend</vt:lpstr>
      <vt:lpstr>PowerPoint Presentation</vt:lpstr>
      <vt:lpstr>PROJECT DOMAIN :</vt:lpstr>
      <vt:lpstr>PROBLEM IDENTIFICATION :</vt:lpstr>
      <vt:lpstr>PowerPoint Presentation</vt:lpstr>
      <vt:lpstr>PowerPoint Presentation</vt:lpstr>
      <vt:lpstr>OBJECTIVES :</vt:lpstr>
      <vt:lpstr>Existing Solution Analysis :</vt:lpstr>
      <vt:lpstr>Proposed solution :</vt:lpstr>
      <vt:lpstr>Subsystem Explanation - I</vt:lpstr>
      <vt:lpstr>PowerPoint Presentation</vt:lpstr>
      <vt:lpstr>PowerPoint Presentation</vt:lpstr>
      <vt:lpstr>Subsystem Explanation - II</vt:lpstr>
      <vt:lpstr>Hardware &amp; Software / Instrument Selection :</vt:lpstr>
      <vt:lpstr>PowerPoint Presentation</vt:lpstr>
      <vt:lpstr>ESP32 DevKit — MCU &amp; Wireless Gateway </vt:lpstr>
      <vt:lpstr>❤️MAX30102 Optical Oximeter — Pulse &amp; SpO₂</vt:lpstr>
      <vt:lpstr>⚡ AD8232 Module — 3‑Lead ECG</vt:lpstr>
      <vt:lpstr>🌡️MLX90614 &amp; MPU6050 — Temperature &amp; Motion</vt:lpstr>
      <vt:lpstr>NEO‑6M GPS &amp; 16×2 LCD — Location &amp; Display</vt:lpstr>
      <vt:lpstr>Buzzer, LEDs, Battery</vt:lpstr>
      <vt:lpstr>Prototyping &amp; Accessories — Wiring, Electrodes.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Prabhakar Ch</dc:creator>
  <cp:lastModifiedBy>Prabhakar Ch</cp:lastModifiedBy>
  <cp:revision>13</cp:revision>
  <dcterms:created xsi:type="dcterms:W3CDTF">2026-07-29T13:16:19Z</dcterms:created>
  <dcterms:modified xsi:type="dcterms:W3CDTF">2026-09-21T17:51:03Z</dcterms:modified>
</cp:coreProperties>
</file>